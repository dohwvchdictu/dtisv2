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Introduce yourself. Ask how many have used a document tracking system before. Set the tone: this is a hands-on session — they will be clicking through the system themselves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Let them know there is a hands-on portion — they should have their login credentials ready. Remind them to ask questions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pain point it solves: 'Have you ever asked where is that document and nobody knew? DTIS answers that question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agency is subject to ARTA, highlight that DTIS helps flag time-sensitive documents and measure compliance. This is not optional — it is part of how the agency is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number is the most important thing a staff member needs to remember. If someone calls asking about a document, the first thing to ask them is 'what is your control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statuses change automatically as staff take actions. You do not manually type a status — it updates when you click Receive, Forward, Endorse, or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DTIS a compliance tool, not just a tracker. Stress that every click they make is recorded with their name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Credentials come from the HR system — DTIS does not have separate passwords. If they cannot log in, it is likely a credentials issue. Direct them to IT, not the trainer.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personal to your office. A different office will see different numbers. The processing rate is a performance metric — the higher, the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real example. Pick a common document type in their office (e.g. a purchase request) and fill out the form together on screen. The system generates the control number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real example. Pick a common document type in their office and fill out the form together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a document is received, it stays in 'For Receiving' status. The sending office can see it is still waiting. Receiving it is how you acknowledge it is now in your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daily workflow starts with Incoming, moves to Pending, and ends with Forwarded or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step by step. Ask: 'If Office B forwards to Office C, does Office A know?' — Yes. They can look up the control number and see it was forwarded.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Forwarding is the most common action. Stress that they should add remarks — future readers of the log will thank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mistake is closing a document that still needs to move. Remind them: only close when the document's journey is truly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Bundles are for convenience. If you are only routing one document, you do not need a bundle. Think of a bundle like a folder that holds several related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transmittal form bridges the digital and physical world. Every time a physical folder moves from one office to another, the transmittal form goes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are mainly for supervisors and records officers. Standard staff will rarely need reports. Show where they are but do not spend too much time here unless your audience includes supervisors.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30–40 minutes for this. Walk around the room. Do NOT take the mouse from trainees — guide them verbally. Note the most common mistakes to address in the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these as a group. Let trainees answer before showing the answer. This is not a formal test — it is a discussion to reinforce key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the quick reference card. Collect attendance sheet. Remind them that every click they make is recorded. Encourage them to start using the system today, not 'when they feel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B3A5C"/>
          </a:solidFill>
          <a:ln/>
        </p:spPr>
      </p:sp>
      <p:sp>
        <p:nvSpPr>
          <p:cNvPr id="3" name="Shape 1"/>
          <p:cNvSpPr/>
          <p:nvPr/>
        </p:nvSpPr>
        <p:spPr>
          <a:xfrm>
            <a:off x="0" y="4389120"/>
            <a:ext cx="12192000" cy="2286000"/>
          </a:xfrm>
          <a:prstGeom prst="rect">
            <a:avLst/>
          </a:prstGeom>
          <a:solidFill>
            <a:srgbClr val="2563EB"/>
          </a:solidFill>
          <a:ln/>
        </p:spPr>
      </p:sp>
      <p:sp>
        <p:nvSpPr>
          <p:cNvPr id="4" name="Text 2"/>
          <p:cNvSpPr/>
          <p:nvPr/>
        </p:nvSpPr>
        <p:spPr>
          <a:xfrm>
            <a:off x="731520" y="822960"/>
            <a:ext cx="10424160" cy="237744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Document Tracking</a:t>
            </a:r>
            <a:endParaRPr lang="en-US" sz="4000" dirty="0"/>
          </a:p>
          <a:p>
            <a:pPr algn="ctr" indent="0" marL="0">
              <a:buNone/>
            </a:pPr>
            <a:r>
              <a:rPr lang="en-US" sz="4000" b="1" dirty="0">
                <a:solidFill>
                  <a:srgbClr val="FFFFFF"/>
                </a:solidFill>
                <a:latin typeface="Calibri" pitchFamily="34" charset="0"/>
                <a:ea typeface="Calibri" pitchFamily="34" charset="-122"/>
                <a:cs typeface="Calibri" pitchFamily="34" charset="-120"/>
              </a:rPr>
              <a:t>Information System</a:t>
            </a:r>
            <a:endParaRPr lang="en-US" sz="4000" dirty="0"/>
          </a:p>
        </p:txBody>
      </p:sp>
      <p:sp>
        <p:nvSpPr>
          <p:cNvPr id="5" name="Text 3"/>
          <p:cNvSpPr/>
          <p:nvPr/>
        </p:nvSpPr>
        <p:spPr>
          <a:xfrm>
            <a:off x="731520" y="182880"/>
            <a:ext cx="10424160" cy="640080"/>
          </a:xfrm>
          <a:prstGeom prst="rect">
            <a:avLst/>
          </a:prstGeom>
          <a:noFill/>
          <a:ln/>
        </p:spPr>
        <p:txBody>
          <a:bodyPr wrap="square" rtlCol="0" anchor="ctr"/>
          <a:lstStyle/>
          <a:p>
            <a:pPr algn="ctr" indent="0" marL="0">
              <a:buNone/>
            </a:pPr>
            <a:r>
              <a:rPr lang="en-US" sz="1800" b="1" dirty="0">
                <a:solidFill>
                  <a:srgbClr val="3B82F6"/>
                </a:solidFill>
                <a:latin typeface="Calibri" pitchFamily="34" charset="0"/>
                <a:ea typeface="Calibri" pitchFamily="34" charset="-122"/>
                <a:cs typeface="Calibri" pitchFamily="34" charset="-120"/>
              </a:rPr>
              <a:t>DTIS</a:t>
            </a:r>
            <a:endParaRPr lang="en-US" sz="1800" dirty="0"/>
          </a:p>
        </p:txBody>
      </p:sp>
      <p:sp>
        <p:nvSpPr>
          <p:cNvPr id="6" name="Text 4"/>
          <p:cNvSpPr/>
          <p:nvPr/>
        </p:nvSpPr>
        <p:spPr>
          <a:xfrm>
            <a:off x="731520" y="4663440"/>
            <a:ext cx="10424160" cy="594360"/>
          </a:xfrm>
          <a:prstGeom prst="rect">
            <a:avLst/>
          </a:prstGeom>
          <a:noFill/>
          <a:ln/>
        </p:spPr>
        <p:txBody>
          <a:bodyPr wrap="square" rtlCol="0" anchor="ctr"/>
          <a:lstStyle/>
          <a:p>
            <a:pPr algn="ctr" indent="0" marL="0">
              <a:buNone/>
            </a:pPr>
            <a:r>
              <a:rPr lang="en-US" sz="2400" dirty="0">
                <a:solidFill>
                  <a:srgbClr val="FFFFFF"/>
                </a:solidFill>
                <a:latin typeface="Calibri" pitchFamily="34" charset="0"/>
                <a:ea typeface="Calibri" pitchFamily="34" charset="-122"/>
                <a:cs typeface="Calibri" pitchFamily="34" charset="-120"/>
              </a:rPr>
              <a:t>End-User Training</a:t>
            </a:r>
            <a:endParaRPr lang="en-US" sz="2400" dirty="0"/>
          </a:p>
        </p:txBody>
      </p:sp>
      <p:sp>
        <p:nvSpPr>
          <p:cNvPr id="7" name="Text 5"/>
          <p:cNvSpPr/>
          <p:nvPr/>
        </p:nvSpPr>
        <p:spPr>
          <a:xfrm>
            <a:off x="731520" y="5349240"/>
            <a:ext cx="10424160" cy="411480"/>
          </a:xfrm>
          <a:prstGeom prst="rect">
            <a:avLst/>
          </a:prstGeom>
          <a:noFill/>
          <a:ln/>
        </p:spPr>
        <p:txBody>
          <a:bodyPr wrap="square" rtlCol="0" anchor="ctr"/>
          <a:lstStyle/>
          <a:p>
            <a:pPr algn="ctr" indent="0" marL="0">
              <a:buNone/>
            </a:pPr>
            <a:r>
              <a:rPr lang="en-US" sz="1300" dirty="0">
                <a:solidFill>
                  <a:srgbClr val="EFF6FF"/>
                </a:solidFill>
                <a:latin typeface="Calibri" pitchFamily="34" charset="0"/>
                <a:ea typeface="Calibri" pitchFamily="34" charset="-122"/>
                <a:cs typeface="Calibri" pitchFamily="34" charset="-120"/>
              </a:rPr>
              <a:t>[Office / Agency Name]  |  [Date]  |  Trainer: [Name]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We Will Cover Today</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Training Agenda</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Text 6"/>
          <p:cNvSpPr/>
          <p:nvPr/>
        </p:nvSpPr>
        <p:spPr>
          <a:xfrm>
            <a:off x="365760" y="1508760"/>
            <a:ext cx="11155680" cy="4023360"/>
          </a:xfrm>
          <a:prstGeom prst="rect">
            <a:avLst/>
          </a:prstGeom>
          <a:noFill/>
          <a:ln/>
        </p:spPr>
        <p:txBody>
          <a:bodyPr wrap="square" rtlCol="0" anchor="t"/>
          <a:lstStyle/>
          <a:p>
            <a:r>
              <a:rPr lang="en-US" sz="1800" dirty="0">
                <a:solidFill>
                  <a:srgbClr val="1F2937"/>
                </a:solidFill>
                <a:latin typeface="Calibri" pitchFamily="34" charset="0"/>
                <a:ea typeface="Calibri" pitchFamily="34" charset="-122"/>
                <a:cs typeface="Calibri" pitchFamily="34" charset="-120"/>
              </a:rPr>
              <a:t>What is DTIS and why we use it</a:t>
            </a:r>
            <a:pPr indent="0" marL="0">
              <a:buNone/>
            </a:pPr>
            <a:r>
              <a:rPr lang="en-US" sz="1800" dirty="0">
                <a:solidFill>
                  <a:srgbClr val="1F2937"/>
                </a:solidFill>
                <a:latin typeface="Calibri" pitchFamily="34" charset="0"/>
                <a:ea typeface="Calibri" pitchFamily="34" charset="-122"/>
                <a:cs typeface="Calibri" pitchFamily="34" charset="-120"/>
              </a:rPr>
              <a:t>Key terms and concepts</a:t>
            </a:r>
            <a:pPr indent="0" marL="0">
              <a:buNone/>
            </a:pPr>
            <a:r>
              <a:rPr lang="en-US" sz="1800" dirty="0">
                <a:solidFill>
                  <a:srgbClr val="1F2937"/>
                </a:solidFill>
                <a:latin typeface="Calibri" pitchFamily="34" charset="0"/>
                <a:ea typeface="Calibri" pitchFamily="34" charset="-122"/>
                <a:cs typeface="Calibri" pitchFamily="34" charset="-120"/>
              </a:rPr>
              <a:t>System walkthrough — live demonstration</a:t>
            </a:r>
            <a:pPr indent="0" marL="0">
              <a:buNone/>
            </a:pPr>
            <a:r>
              <a:rPr lang="en-US" sz="1800" dirty="0">
                <a:solidFill>
                  <a:srgbClr val="1F2937"/>
                </a:solidFill>
                <a:latin typeface="Calibri" pitchFamily="34" charset="0"/>
                <a:ea typeface="Calibri" pitchFamily="34" charset="-122"/>
                <a:cs typeface="Calibri" pitchFamily="34" charset="-120"/>
              </a:rPr>
              <a:t>Hands-on practice (you will use the system)</a:t>
            </a:r>
            <a:pPr indent="0" marL="0">
              <a:buNone/>
            </a:pPr>
            <a:r>
              <a:rPr lang="en-US" sz="1800" dirty="0">
                <a:solidFill>
                  <a:srgbClr val="1F2937"/>
                </a:solidFill>
                <a:latin typeface="Calibri" pitchFamily="34" charset="0"/>
                <a:ea typeface="Calibri" pitchFamily="34" charset="-122"/>
                <a:cs typeface="Calibri" pitchFamily="34" charset="-120"/>
              </a:rPr>
              <a:t>Q&amp;A and assessment</a:t>
            </a:r>
            <a:pPr indent="0" marL="0">
              <a:buNone/>
            </a:pPr>
            <a:r>
              <a:rPr lang="en-US" sz="1800" dirty="0">
                <a:solidFill>
                  <a:srgbClr val="1F2937"/>
                </a:solidFill>
                <a:latin typeface="Calibri" pitchFamily="34" charset="0"/>
                <a:ea typeface="Calibri" pitchFamily="34" charset="-122"/>
                <a:cs typeface="Calibri" pitchFamily="34" charset="-120"/>
              </a:rPr>
              <a:t>Quick reference and support</a:t>
            </a:r>
            <a:endParaRPr lang="en-US" sz="1800" dirty="0"/>
          </a:p>
        </p:txBody>
      </p:sp>
      <p:sp>
        <p:nvSpPr>
          <p:cNvPr id="9" name="Text 7"/>
          <p:cNvSpPr/>
          <p:nvPr/>
        </p:nvSpPr>
        <p:spPr>
          <a:xfrm>
            <a:off x="365760" y="5852160"/>
            <a:ext cx="1115568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Total time: ~2.5 hours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is DTIS?</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Document Tracking Information System</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Text 6"/>
          <p:cNvSpPr/>
          <p:nvPr/>
        </p:nvSpPr>
        <p:spPr>
          <a:xfrm>
            <a:off x="365760" y="1508760"/>
            <a:ext cx="11155680" cy="3291840"/>
          </a:xfrm>
          <a:prstGeom prst="rect">
            <a:avLst/>
          </a:prstGeom>
          <a:noFill/>
          <a:ln/>
        </p:spPr>
        <p:txBody>
          <a:bodyPr wrap="square" rtlCol="0" anchor="t"/>
          <a:lstStyle/>
          <a:p>
            <a:r>
              <a:rPr lang="en-US" sz="1800" dirty="0">
                <a:solidFill>
                  <a:srgbClr val="1F2937"/>
                </a:solidFill>
                <a:latin typeface="Calibri" pitchFamily="34" charset="0"/>
                <a:ea typeface="Calibri" pitchFamily="34" charset="-122"/>
                <a:cs typeface="Calibri" pitchFamily="34" charset="-120"/>
              </a:rPr>
              <a:t>A digital system for tracking documents across offices</a:t>
            </a:r>
            <a:pPr indent="0" marL="0">
              <a:buNone/>
            </a:pPr>
            <a:r>
              <a:rPr lang="en-US" sz="1800" dirty="0">
                <a:solidFill>
                  <a:srgbClr val="1F2937"/>
                </a:solidFill>
                <a:latin typeface="Calibri" pitchFamily="34" charset="0"/>
                <a:ea typeface="Calibri" pitchFamily="34" charset="-122"/>
                <a:cs typeface="Calibri" pitchFamily="34" charset="-120"/>
              </a:rPr>
              <a:t>Replaces manual logbooks and paper routing slips</a:t>
            </a:r>
            <a:pPr indent="0" marL="0">
              <a:buNone/>
            </a:pPr>
            <a:r>
              <a:rPr lang="en-US" sz="1800" dirty="0">
                <a:solidFill>
                  <a:srgbClr val="1F2937"/>
                </a:solidFill>
                <a:latin typeface="Calibri" pitchFamily="34" charset="0"/>
                <a:ea typeface="Calibri" pitchFamily="34" charset="-122"/>
                <a:cs typeface="Calibri" pitchFamily="34" charset="-120"/>
              </a:rPr>
              <a:t>Every document gets a unique Control Number</a:t>
            </a:r>
            <a:pPr indent="0" marL="0">
              <a:buNone/>
            </a:pPr>
            <a:r>
              <a:rPr lang="en-US" sz="1800" dirty="0">
                <a:solidFill>
                  <a:srgbClr val="1F2937"/>
                </a:solidFill>
                <a:latin typeface="Calibri" pitchFamily="34" charset="0"/>
                <a:ea typeface="Calibri" pitchFamily="34" charset="-122"/>
                <a:cs typeface="Calibri" pitchFamily="34" charset="-120"/>
              </a:rPr>
              <a:t>Real-time visibility — anyone with access can see where a document is right now</a:t>
            </a:r>
            <a:endParaRPr lang="en-US" sz="1800" dirty="0"/>
          </a:p>
        </p:txBody>
      </p:sp>
      <p:sp>
        <p:nvSpPr>
          <p:cNvPr id="9" name="Shape 7"/>
          <p:cNvSpPr/>
          <p:nvPr/>
        </p:nvSpPr>
        <p:spPr>
          <a:xfrm>
            <a:off x="365760" y="4846320"/>
            <a:ext cx="11155680" cy="822960"/>
          </a:xfrm>
          <a:prstGeom prst="rect">
            <a:avLst/>
          </a:prstGeom>
          <a:solidFill>
            <a:srgbClr val="EFF6FF"/>
          </a:solidFill>
          <a:ln w="12700">
            <a:solidFill>
              <a:srgbClr val="3B82F6"/>
            </a:solidFill>
            <a:prstDash val="solid"/>
          </a:ln>
        </p:spPr>
      </p:sp>
      <p:sp>
        <p:nvSpPr>
          <p:cNvPr id="10" name="Text 8"/>
          <p:cNvSpPr/>
          <p:nvPr/>
        </p:nvSpPr>
        <p:spPr>
          <a:xfrm>
            <a:off x="548640" y="4892040"/>
            <a:ext cx="10972800" cy="731520"/>
          </a:xfrm>
          <a:prstGeom prst="rect">
            <a:avLst/>
          </a:prstGeom>
          <a:noFill/>
          <a:ln/>
        </p:spPr>
        <p:txBody>
          <a:bodyPr wrap="square" rtlCol="0" anchor="ctr"/>
          <a:lstStyle/>
          <a:p>
            <a:pPr indent="0" marL="0">
              <a:buNone/>
            </a:pPr>
            <a:r>
              <a:rPr lang="en-US" sz="1300" b="1" i="1" dirty="0">
                <a:solidFill>
                  <a:srgbClr val="2563EB"/>
                </a:solidFill>
                <a:latin typeface="Calibri" pitchFamily="34" charset="0"/>
                <a:ea typeface="Calibri" pitchFamily="34" charset="-122"/>
                <a:cs typeface="Calibri" pitchFamily="34" charset="-120"/>
              </a:rPr>
              <a:t>Have you ever asked "where is that document?" and nobody knew?</a:t>
            </a:r>
            <a:endParaRPr lang="en-US" sz="1300" dirty="0"/>
          </a:p>
          <a:p>
            <a:pPr indent="0" marL="0">
              <a:buNone/>
            </a:pPr>
            <a:r>
              <a:rPr lang="en-US" sz="1300" b="1" i="1" dirty="0">
                <a:solidFill>
                  <a:srgbClr val="2563EB"/>
                </a:solidFill>
                <a:latin typeface="Calibri" pitchFamily="34" charset="0"/>
                <a:ea typeface="Calibri" pitchFamily="34" charset="-122"/>
                <a:cs typeface="Calibri" pitchFamily="34" charset="-120"/>
              </a:rPr>
              <a:t>DTIS answers that question — instantly.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Why DTIS Matters</a:t>
            </a:r>
            <a:endParaRPr lang="en-US" sz="2400" dirty="0"/>
          </a:p>
        </p:txBody>
      </p:sp>
      <p:sp>
        <p:nvSpPr>
          <p:cNvPr id="4" name="Shape 2"/>
          <p:cNvSpPr/>
          <p:nvPr/>
        </p:nvSpPr>
        <p:spPr>
          <a:xfrm>
            <a:off x="0" y="1280160"/>
            <a:ext cx="12192000" cy="54864"/>
          </a:xfrm>
          <a:prstGeom prst="rect">
            <a:avLst/>
          </a:prstGeom>
          <a:solidFill>
            <a:srgbClr val="3B82F6"/>
          </a:solidFill>
          <a:ln/>
        </p:spPr>
      </p:sp>
      <p:sp>
        <p:nvSpPr>
          <p:cNvPr id="5" name="Shape 3"/>
          <p:cNvSpPr/>
          <p:nvPr/>
        </p:nvSpPr>
        <p:spPr>
          <a:xfrm>
            <a:off x="0" y="6309360"/>
            <a:ext cx="12192000" cy="347472"/>
          </a:xfrm>
          <a:prstGeom prst="rect">
            <a:avLst/>
          </a:prstGeom>
          <a:solidFill>
            <a:srgbClr val="1B3A5C"/>
          </a:solidFill>
          <a:ln/>
        </p:spPr>
      </p:sp>
      <p:sp>
        <p:nvSpPr>
          <p:cNvPr id="6" name="Text 4"/>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7" name="Text 5"/>
          <p:cNvSpPr/>
          <p:nvPr/>
        </p:nvSpPr>
        <p:spPr>
          <a:xfrm>
            <a:off x="365760" y="1508760"/>
            <a:ext cx="11155680" cy="4023360"/>
          </a:xfrm>
          <a:prstGeom prst="rect">
            <a:avLst/>
          </a:prstGeom>
          <a:noFill/>
          <a:ln/>
        </p:spPr>
        <p:txBody>
          <a:bodyPr wrap="square" rtlCol="0" anchor="t"/>
          <a:lstStyle/>
          <a:p>
            <a:r>
              <a:rPr lang="en-US" sz="1800" dirty="0">
                <a:solidFill>
                  <a:srgbClr val="1F2937"/>
                </a:solidFill>
                <a:latin typeface="Calibri" pitchFamily="34" charset="0"/>
                <a:ea typeface="Calibri" pitchFamily="34" charset="-122"/>
                <a:cs typeface="Calibri" pitchFamily="34" charset="-120"/>
              </a:rPr>
              <a:t>Tracks every document movement — no more lost files</a:t>
            </a:r>
            <a:pPr indent="0" marL="0">
              <a:buNone/>
            </a:pPr>
            <a:r>
              <a:rPr lang="en-US" sz="1800" dirty="0">
                <a:solidFill>
                  <a:srgbClr val="1F2937"/>
                </a:solidFill>
                <a:latin typeface="Calibri" pitchFamily="34" charset="0"/>
                <a:ea typeface="Calibri" pitchFamily="34" charset="-122"/>
                <a:cs typeface="Calibri" pitchFamily="34" charset="-120"/>
              </a:rPr>
              <a:t>Records who received, processed, and forwarded each document</a:t>
            </a:r>
            <a:pPr indent="0" marL="0">
              <a:buNone/>
            </a:pPr>
            <a:r>
              <a:rPr lang="en-US" sz="1800" dirty="0">
                <a:solidFill>
                  <a:srgbClr val="1F2937"/>
                </a:solidFill>
                <a:latin typeface="Calibri" pitchFamily="34" charset="0"/>
                <a:ea typeface="Calibri" pitchFamily="34" charset="-122"/>
                <a:cs typeface="Calibri" pitchFamily="34" charset="-120"/>
              </a:rPr>
              <a:t>Measures turnaround time per the Citizen Charter (Anti-Red Tape Act)</a:t>
            </a:r>
            <a:pPr indent="0" marL="0">
              <a:buNone/>
            </a:pPr>
            <a:r>
              <a:rPr lang="en-US" sz="1800" dirty="0">
                <a:solidFill>
                  <a:srgbClr val="1F2937"/>
                </a:solidFill>
                <a:latin typeface="Calibri" pitchFamily="34" charset="0"/>
                <a:ea typeface="Calibri" pitchFamily="34" charset="-122"/>
                <a:cs typeface="Calibri" pitchFamily="34" charset="-120"/>
              </a:rPr>
              <a:t>Generates reports for compliance and performance monitoring</a:t>
            </a:r>
            <a:pPr indent="0" marL="0">
              <a:buNone/>
            </a:pPr>
            <a:r>
              <a:rPr lang="en-US" sz="1800" dirty="0">
                <a:solidFill>
                  <a:srgbClr val="1F2937"/>
                </a:solidFill>
                <a:latin typeface="Calibri" pitchFamily="34" charset="0"/>
                <a:ea typeface="Calibri" pitchFamily="34" charset="-122"/>
                <a:cs typeface="Calibri" pitchFamily="34" charset="-120"/>
              </a:rPr>
              <a:t>Creates a full audit trail — every action is logged permanently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Control Number</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Key Concept #1</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Text 6"/>
          <p:cNvSpPr/>
          <p:nvPr/>
        </p:nvSpPr>
        <p:spPr>
          <a:xfrm>
            <a:off x="365760" y="1508760"/>
            <a:ext cx="11155680" cy="2651760"/>
          </a:xfrm>
          <a:prstGeom prst="rect">
            <a:avLst/>
          </a:prstGeom>
          <a:noFill/>
          <a:ln/>
        </p:spPr>
        <p:txBody>
          <a:bodyPr wrap="square" rtlCol="0" anchor="t"/>
          <a:lstStyle/>
          <a:p>
            <a:r>
              <a:rPr lang="en-US" sz="1800" dirty="0">
                <a:solidFill>
                  <a:srgbClr val="1F2937"/>
                </a:solidFill>
                <a:latin typeface="Calibri" pitchFamily="34" charset="0"/>
                <a:ea typeface="Calibri" pitchFamily="34" charset="-122"/>
                <a:cs typeface="Calibri" pitchFamily="34" charset="-120"/>
              </a:rPr>
              <a:t>Every document in DTIS has a unique Control Number</a:t>
            </a:r>
            <a:pPr indent="0" marL="0">
              <a:buNone/>
            </a:pPr>
            <a:r>
              <a:rPr lang="en-US" sz="1800" dirty="0">
                <a:solidFill>
                  <a:srgbClr val="1F2937"/>
                </a:solidFill>
                <a:latin typeface="Calibri" pitchFamily="34" charset="0"/>
                <a:ea typeface="Calibri" pitchFamily="34" charset="-122"/>
                <a:cs typeface="Calibri" pitchFamily="34" charset="-120"/>
              </a:rPr>
              <a:t>Generated automatically — you do not type it</a:t>
            </a:r>
            <a:pPr indent="0" marL="0">
              <a:buNone/>
            </a:pPr>
            <a:r>
              <a:rPr lang="en-US" sz="1800" dirty="0">
                <a:solidFill>
                  <a:srgbClr val="1F2937"/>
                </a:solidFill>
                <a:latin typeface="Calibri" pitchFamily="34" charset="0"/>
                <a:ea typeface="Calibri" pitchFamily="34" charset="-122"/>
                <a:cs typeface="Calibri" pitchFamily="34" charset="-120"/>
              </a:rPr>
              <a:t>Use it to search for any document instantly</a:t>
            </a:r>
            <a:pPr indent="0" marL="0">
              <a:buNone/>
            </a:pPr>
            <a:r>
              <a:rPr lang="en-US" sz="1800" dirty="0">
                <a:solidFill>
                  <a:srgbClr val="1F2937"/>
                </a:solidFill>
                <a:latin typeface="Calibri" pitchFamily="34" charset="0"/>
                <a:ea typeface="Calibri" pitchFamily="34" charset="-122"/>
                <a:cs typeface="Calibri" pitchFamily="34" charset="-120"/>
              </a:rPr>
              <a:t>Print it on the physical transmittal form</a:t>
            </a:r>
            <a:endParaRPr lang="en-US" sz="1800" dirty="0"/>
          </a:p>
        </p:txBody>
      </p:sp>
      <p:sp>
        <p:nvSpPr>
          <p:cNvPr id="9" name="Shape 7"/>
          <p:cNvSpPr/>
          <p:nvPr/>
        </p:nvSpPr>
        <p:spPr>
          <a:xfrm>
            <a:off x="1371600" y="4206240"/>
            <a:ext cx="9144000" cy="1371600"/>
          </a:xfrm>
          <a:prstGeom prst="rect">
            <a:avLst/>
          </a:prstGeom>
          <a:solidFill>
            <a:srgbClr val="1B3A5C"/>
          </a:solidFill>
          <a:ln w="12700">
            <a:solidFill>
              <a:srgbClr val="3B82F6"/>
            </a:solidFill>
            <a:prstDash val="solid"/>
          </a:ln>
        </p:spPr>
      </p:sp>
      <p:sp>
        <p:nvSpPr>
          <p:cNvPr id="10" name="Text 8"/>
          <p:cNvSpPr/>
          <p:nvPr/>
        </p:nvSpPr>
        <p:spPr>
          <a:xfrm>
            <a:off x="1371600" y="4251960"/>
            <a:ext cx="9144000" cy="365760"/>
          </a:xfrm>
          <a:prstGeom prst="rect">
            <a:avLst/>
          </a:prstGeom>
          <a:noFill/>
          <a:ln/>
        </p:spPr>
        <p:txBody>
          <a:bodyPr wrap="square" rtlCol="0" anchor="ctr"/>
          <a:lstStyle/>
          <a:p>
            <a:pPr algn="ctr" indent="0" marL="0">
              <a:buNone/>
            </a:pPr>
            <a:r>
              <a:rPr lang="en-US" sz="1100" dirty="0">
                <a:solidFill>
                  <a:srgbClr val="3B82F6"/>
                </a:solidFill>
                <a:latin typeface="Calibri" pitchFamily="34" charset="0"/>
                <a:ea typeface="Calibri" pitchFamily="34" charset="-122"/>
                <a:cs typeface="Calibri" pitchFamily="34" charset="-120"/>
              </a:rPr>
              <a:t>Example Control Number</a:t>
            </a:r>
            <a:endParaRPr lang="en-US" sz="1100" dirty="0"/>
          </a:p>
        </p:txBody>
      </p:sp>
      <p:sp>
        <p:nvSpPr>
          <p:cNvPr id="11" name="Text 9"/>
          <p:cNvSpPr/>
          <p:nvPr/>
        </p:nvSpPr>
        <p:spPr>
          <a:xfrm>
            <a:off x="1371600" y="4572000"/>
            <a:ext cx="9144000" cy="822960"/>
          </a:xfrm>
          <a:prstGeom prst="rect">
            <a:avLst/>
          </a:prstGeom>
          <a:noFill/>
          <a:ln/>
        </p:spPr>
        <p:txBody>
          <a:bodyPr wrap="square" rtlCol="0" anchor="ctr"/>
          <a:lstStyle/>
          <a:p>
            <a:pPr algn="ctr" indent="0" marL="0">
              <a:buNone/>
            </a:pPr>
            <a:r>
              <a:rPr lang="en-US" sz="3200" b="1" dirty="0">
                <a:solidFill>
                  <a:srgbClr val="FFFFFF"/>
                </a:solidFill>
                <a:latin typeface="Courier New" pitchFamily="34" charset="0"/>
                <a:ea typeface="Courier New" pitchFamily="34" charset="-122"/>
                <a:cs typeface="Courier New" pitchFamily="34" charset="-120"/>
              </a:rPr>
              <a:t>DC19120240151437</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Document Statuses</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Key Concept #2 — What They Mean</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508760"/>
          <a:ext cx="11155680" cy="914400"/>
        </p:xfrm>
        <a:graphic>
          <a:graphicData uri="http://schemas.openxmlformats.org/drawingml/2006/table">
            <a:tbl>
              <a:tblPr/>
              <a:tblGrid>
                <a:gridCol w="5577840"/>
                <a:gridCol w="557784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Meaning</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 Receiving</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 has been sent — waiting for the next office to receive it</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On Process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The office has received it and is currently working on it</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Endorsed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The document has been approved or signed off</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Forwarded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 has been sent to another office for processing</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Closed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 is completed — no further action needed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Returned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 was sent back for revision or correction</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Document Log</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Key Concept #3 — Full Audit Trail</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Text 6"/>
          <p:cNvSpPr/>
          <p:nvPr/>
        </p:nvSpPr>
        <p:spPr>
          <a:xfrm>
            <a:off x="365760" y="1508760"/>
            <a:ext cx="11155680" cy="2926080"/>
          </a:xfrm>
          <a:prstGeom prst="rect">
            <a:avLst/>
          </a:prstGeom>
          <a:noFill/>
          <a:ln/>
        </p:spPr>
        <p:txBody>
          <a:bodyPr wrap="square" rtlCol="0" anchor="t"/>
          <a:lstStyle/>
          <a:p>
            <a:r>
              <a:rPr lang="en-US" sz="1800" dirty="0">
                <a:solidFill>
                  <a:srgbClr val="1F2937"/>
                </a:solidFill>
                <a:latin typeface="Calibri" pitchFamily="34" charset="0"/>
                <a:ea typeface="Calibri" pitchFamily="34" charset="-122"/>
                <a:cs typeface="Calibri" pitchFamily="34" charset="-120"/>
              </a:rPr>
              <a:t>Every action taken on a document is recorded automatically</a:t>
            </a:r>
            <a:pPr indent="0" marL="0">
              <a:buNone/>
            </a:pPr>
            <a:r>
              <a:rPr lang="en-US" sz="1800" dirty="0">
                <a:solidFill>
                  <a:srgbClr val="1F2937"/>
                </a:solidFill>
                <a:latin typeface="Calibri" pitchFamily="34" charset="0"/>
                <a:ea typeface="Calibri" pitchFamily="34" charset="-122"/>
                <a:cs typeface="Calibri" pitchFamily="34" charset="-120"/>
              </a:rPr>
              <a:t>Log shows: who did it, what they did, when, and from which office</a:t>
            </a:r>
            <a:pPr indent="0" marL="0">
              <a:buNone/>
            </a:pPr>
            <a:r>
              <a:rPr lang="en-US" sz="1800" dirty="0">
                <a:solidFill>
                  <a:srgbClr val="1F2937"/>
                </a:solidFill>
                <a:latin typeface="Calibri" pitchFamily="34" charset="0"/>
                <a:ea typeface="Calibri" pitchFamily="34" charset="-122"/>
                <a:cs typeface="Calibri" pitchFamily="34" charset="-120"/>
              </a:rPr>
              <a:t>Cannot be edited or deleted — permanent record</a:t>
            </a:r>
            <a:pPr indent="0" marL="0">
              <a:buNone/>
            </a:pPr>
            <a:r>
              <a:rPr lang="en-US" sz="1800" dirty="0">
                <a:solidFill>
                  <a:srgbClr val="1F2937"/>
                </a:solidFill>
                <a:latin typeface="Calibri" pitchFamily="34" charset="0"/>
                <a:ea typeface="Calibri" pitchFamily="34" charset="-122"/>
                <a:cs typeface="Calibri" pitchFamily="34" charset="-120"/>
              </a:rPr>
              <a:t>Visible at the bottom of every document detail page</a:t>
            </a:r>
            <a:endParaRPr lang="en-US" sz="1800" dirty="0"/>
          </a:p>
        </p:txBody>
      </p:sp>
      <p:sp>
        <p:nvSpPr>
          <p:cNvPr id="9" name="Shape 7"/>
          <p:cNvSpPr/>
          <p:nvPr/>
        </p:nvSpPr>
        <p:spPr>
          <a:xfrm>
            <a:off x="365760" y="4480560"/>
            <a:ext cx="11155680" cy="1188720"/>
          </a:xfrm>
          <a:prstGeom prst="rect">
            <a:avLst/>
          </a:prstGeom>
          <a:solidFill>
            <a:srgbClr val="EFF6FF"/>
          </a:solidFill>
          <a:ln w="12700">
            <a:solidFill>
              <a:srgbClr val="3B82F6"/>
            </a:solidFill>
            <a:prstDash val="solid"/>
          </a:ln>
        </p:spPr>
      </p:sp>
      <p:sp>
        <p:nvSpPr>
          <p:cNvPr id="10" name="Text 8"/>
          <p:cNvSpPr/>
          <p:nvPr/>
        </p:nvSpPr>
        <p:spPr>
          <a:xfrm>
            <a:off x="594360" y="4553712"/>
            <a:ext cx="10789920" cy="1005840"/>
          </a:xfrm>
          <a:prstGeom prst="rect">
            <a:avLst/>
          </a:prstGeom>
          <a:noFill/>
          <a:ln/>
        </p:spPr>
        <p:txBody>
          <a:bodyPr wrap="square" rtlCol="0" anchor="ctr"/>
          <a:lstStyle/>
          <a:p>
            <a:pPr indent="0" marL="0">
              <a:buNone/>
            </a:pPr>
            <a:r>
              <a:rPr lang="en-US" sz="1400" b="1" i="1" dirty="0">
                <a:solidFill>
                  <a:srgbClr val="1B3A5C"/>
                </a:solidFill>
                <a:latin typeface="Calibri" pitchFamily="34" charset="0"/>
                <a:ea typeface="Calibri" pitchFamily="34" charset="-122"/>
                <a:cs typeface="Calibri" pitchFamily="34" charset="-120"/>
              </a:rPr>
              <a:t>Every click you make is recorded with your name attached.</a:t>
            </a:r>
            <a:endParaRPr lang="en-US" sz="1400" dirty="0"/>
          </a:p>
          <a:p>
            <a:pPr indent="0" marL="0">
              <a:buNone/>
            </a:pPr>
            <a:r>
              <a:rPr lang="en-US" sz="1400" b="1" i="1" dirty="0">
                <a:solidFill>
                  <a:srgbClr val="1B3A5C"/>
                </a:solidFill>
                <a:latin typeface="Calibri" pitchFamily="34" charset="0"/>
                <a:ea typeface="Calibri" pitchFamily="34" charset="-122"/>
                <a:cs typeface="Calibri" pitchFamily="34" charset="-120"/>
              </a:rPr>
              <a:t>The log is the source of truth if there is ever a question about a document.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to Log In</a:t>
            </a:r>
            <a:endParaRPr lang="en-US" sz="2400" dirty="0"/>
          </a:p>
        </p:txBody>
      </p:sp>
      <p:sp>
        <p:nvSpPr>
          <p:cNvPr id="4" name="Shape 2"/>
          <p:cNvSpPr/>
          <p:nvPr/>
        </p:nvSpPr>
        <p:spPr>
          <a:xfrm>
            <a:off x="0" y="1280160"/>
            <a:ext cx="12192000" cy="54864"/>
          </a:xfrm>
          <a:prstGeom prst="rect">
            <a:avLst/>
          </a:prstGeom>
          <a:solidFill>
            <a:srgbClr val="3B82F6"/>
          </a:solidFill>
          <a:ln/>
        </p:spPr>
      </p:sp>
      <p:sp>
        <p:nvSpPr>
          <p:cNvPr id="5" name="Shape 3"/>
          <p:cNvSpPr/>
          <p:nvPr/>
        </p:nvSpPr>
        <p:spPr>
          <a:xfrm>
            <a:off x="0" y="6309360"/>
            <a:ext cx="12192000" cy="347472"/>
          </a:xfrm>
          <a:prstGeom prst="rect">
            <a:avLst/>
          </a:prstGeom>
          <a:solidFill>
            <a:srgbClr val="1B3A5C"/>
          </a:solidFill>
          <a:ln/>
        </p:spPr>
      </p:sp>
      <p:sp>
        <p:nvSpPr>
          <p:cNvPr id="6" name="Text 4"/>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7" name="Text 5"/>
          <p:cNvSpPr/>
          <p:nvPr/>
        </p:nvSpPr>
        <p:spPr>
          <a:xfrm>
            <a:off x="365760" y="1508760"/>
            <a:ext cx="11155680" cy="4206240"/>
          </a:xfrm>
          <a:prstGeom prst="rect">
            <a:avLst/>
          </a:prstGeom>
          <a:noFill/>
          <a:ln/>
        </p:spPr>
        <p:txBody>
          <a:bodyPr wrap="square" rtlCol="0" anchor="t"/>
          <a:lstStyle/>
          <a:p>
            <a:r>
              <a:rPr lang="en-US" sz="1700" dirty="0">
                <a:solidFill>
                  <a:srgbClr val="1F2937"/>
                </a:solidFill>
                <a:latin typeface="Calibri" pitchFamily="34" charset="0"/>
                <a:ea typeface="Calibri" pitchFamily="34" charset="-122"/>
                <a:cs typeface="Calibri" pitchFamily="34" charset="-120"/>
              </a:rPr>
              <a:t>Open your browser and go to the DTIS URL:  [insert URL here]</a:t>
            </a:r>
            <a:pPr indent="0" marL="0">
              <a:buNone/>
            </a:pPr>
            <a:r>
              <a:rPr lang="en-US" sz="1700" dirty="0">
                <a:solidFill>
                  <a:srgbClr val="1F2937"/>
                </a:solidFill>
                <a:latin typeface="Calibri" pitchFamily="34" charset="0"/>
                <a:ea typeface="Calibri" pitchFamily="34" charset="-122"/>
                <a:cs typeface="Calibri" pitchFamily="34" charset="-120"/>
              </a:rPr>
              <a:t>Enter your email address and password</a:t>
            </a:r>
            <a:pPr indent="0" marL="0">
              <a:buNone/>
            </a:pPr>
            <a:r>
              <a:rPr lang="en-US" sz="1700" dirty="0">
                <a:solidFill>
                  <a:srgbClr val="1F2937"/>
                </a:solidFill>
                <a:latin typeface="Calibri" pitchFamily="34" charset="0"/>
                <a:ea typeface="Calibri" pitchFamily="34" charset="-122"/>
                <a:cs typeface="Calibri" pitchFamily="34" charset="-120"/>
              </a:rPr>
              <a:t>  → Same credentials used in your HR system</a:t>
            </a:r>
            <a:pPr indent="0" marL="0">
              <a:buNone/>
            </a:pPr>
            <a:r>
              <a:rPr lang="en-US" sz="1700" dirty="0">
                <a:solidFill>
                  <a:srgbClr val="1F2937"/>
                </a:solidFill>
                <a:latin typeface="Calibri" pitchFamily="34" charset="0"/>
                <a:ea typeface="Calibri" pitchFamily="34" charset="-122"/>
                <a:cs typeface="Calibri" pitchFamily="34" charset="-120"/>
              </a:rPr>
              <a:t>Click Log In</a:t>
            </a:r>
            <a:pPr indent="0" marL="0">
              <a:buNone/>
            </a:pPr>
            <a:r>
              <a:rPr lang="en-US" sz="1700" dirty="0">
                <a:solidFill>
                  <a:srgbClr val="1F2937"/>
                </a:solidFill>
                <a:latin typeface="Calibri" pitchFamily="34" charset="0"/>
                <a:ea typeface="Calibri" pitchFamily="34" charset="-122"/>
                <a:cs typeface="Calibri" pitchFamily="34" charset="-120"/>
              </a:rPr>
              <a:t>If you see an error: check your email spelling or contact IT</a:t>
            </a:r>
            <a:pPr indent="0" marL="0">
              <a:buNone/>
            </a:pPr>
            <a:r>
              <a:rPr lang="en-US" sz="1700" dirty="0">
                <a:solidFill>
                  <a:srgbClr val="1F2937"/>
                </a:solidFill>
                <a:latin typeface="Calibri" pitchFamily="34" charset="0"/>
                <a:ea typeface="Calibri" pitchFamily="34" charset="-122"/>
                <a:cs typeface="Calibri" pitchFamily="34" charset="-120"/>
              </a:rPr>
              <a:t>Sessions expire — if idle too long, you will be redirected to login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Your Dashboard</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The Starting Point — Check It Every Morning</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Shape 6"/>
          <p:cNvSpPr/>
          <p:nvPr/>
        </p:nvSpPr>
        <p:spPr>
          <a:xfrm>
            <a:off x="457200" y="1600200"/>
            <a:ext cx="3200400" cy="1645920"/>
          </a:xfrm>
          <a:prstGeom prst="rect">
            <a:avLst/>
          </a:prstGeom>
          <a:solidFill>
            <a:srgbClr val="2563EB"/>
          </a:solidFill>
          <a:ln w="12700">
            <a:solidFill>
              <a:srgbClr val="2563EB"/>
            </a:solidFill>
            <a:prstDash val="solid"/>
          </a:ln>
        </p:spPr>
      </p:sp>
      <p:sp>
        <p:nvSpPr>
          <p:cNvPr id="9" name="Text 7"/>
          <p:cNvSpPr/>
          <p:nvPr/>
        </p:nvSpPr>
        <p:spPr>
          <a:xfrm>
            <a:off x="457200" y="1691640"/>
            <a:ext cx="32004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Incoming</a:t>
            </a:r>
            <a:endParaRPr lang="en-US" sz="1800" dirty="0"/>
          </a:p>
        </p:txBody>
      </p:sp>
      <p:sp>
        <p:nvSpPr>
          <p:cNvPr id="10" name="Text 8"/>
          <p:cNvSpPr/>
          <p:nvPr/>
        </p:nvSpPr>
        <p:spPr>
          <a:xfrm>
            <a:off x="457200" y="2240280"/>
            <a:ext cx="3200400" cy="8229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(count)</a:t>
            </a:r>
            <a:endParaRPr lang="en-US" sz="2800" dirty="0"/>
          </a:p>
        </p:txBody>
      </p:sp>
      <p:sp>
        <p:nvSpPr>
          <p:cNvPr id="11" name="Shape 9"/>
          <p:cNvSpPr/>
          <p:nvPr/>
        </p:nvSpPr>
        <p:spPr>
          <a:xfrm>
            <a:off x="3931920" y="1600200"/>
            <a:ext cx="3200400" cy="1645920"/>
          </a:xfrm>
          <a:prstGeom prst="rect">
            <a:avLst/>
          </a:prstGeom>
          <a:solidFill>
            <a:srgbClr val="D97706"/>
          </a:solidFill>
          <a:ln w="12700">
            <a:solidFill>
              <a:srgbClr val="D97706"/>
            </a:solidFill>
            <a:prstDash val="solid"/>
          </a:ln>
        </p:spPr>
      </p:sp>
      <p:sp>
        <p:nvSpPr>
          <p:cNvPr id="12" name="Text 10"/>
          <p:cNvSpPr/>
          <p:nvPr/>
        </p:nvSpPr>
        <p:spPr>
          <a:xfrm>
            <a:off x="3931920" y="1691640"/>
            <a:ext cx="32004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Pending</a:t>
            </a:r>
            <a:endParaRPr lang="en-US" sz="1800" dirty="0"/>
          </a:p>
        </p:txBody>
      </p:sp>
      <p:sp>
        <p:nvSpPr>
          <p:cNvPr id="13" name="Text 11"/>
          <p:cNvSpPr/>
          <p:nvPr/>
        </p:nvSpPr>
        <p:spPr>
          <a:xfrm>
            <a:off x="3931920" y="2240280"/>
            <a:ext cx="3200400" cy="8229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(count)</a:t>
            </a:r>
            <a:endParaRPr lang="en-US" sz="2800" dirty="0"/>
          </a:p>
        </p:txBody>
      </p:sp>
      <p:sp>
        <p:nvSpPr>
          <p:cNvPr id="14" name="Shape 12"/>
          <p:cNvSpPr/>
          <p:nvPr/>
        </p:nvSpPr>
        <p:spPr>
          <a:xfrm>
            <a:off x="7406640" y="1600200"/>
            <a:ext cx="3200400" cy="1645920"/>
          </a:xfrm>
          <a:prstGeom prst="rect">
            <a:avLst/>
          </a:prstGeom>
          <a:solidFill>
            <a:srgbClr val="16A34A"/>
          </a:solidFill>
          <a:ln w="12700">
            <a:solidFill>
              <a:srgbClr val="16A34A"/>
            </a:solidFill>
            <a:prstDash val="solid"/>
          </a:ln>
        </p:spPr>
      </p:sp>
      <p:sp>
        <p:nvSpPr>
          <p:cNvPr id="15" name="Text 13"/>
          <p:cNvSpPr/>
          <p:nvPr/>
        </p:nvSpPr>
        <p:spPr>
          <a:xfrm>
            <a:off x="7406640" y="1691640"/>
            <a:ext cx="3200400" cy="50292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Closed</a:t>
            </a:r>
            <a:endParaRPr lang="en-US" sz="1800" dirty="0"/>
          </a:p>
        </p:txBody>
      </p:sp>
      <p:sp>
        <p:nvSpPr>
          <p:cNvPr id="16" name="Text 14"/>
          <p:cNvSpPr/>
          <p:nvPr/>
        </p:nvSpPr>
        <p:spPr>
          <a:xfrm>
            <a:off x="7406640" y="2240280"/>
            <a:ext cx="3200400" cy="82296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(count)</a:t>
            </a:r>
            <a:endParaRPr lang="en-US" sz="2800" dirty="0"/>
          </a:p>
        </p:txBody>
      </p:sp>
      <p:sp>
        <p:nvSpPr>
          <p:cNvPr id="17" name="Text 15"/>
          <p:cNvSpPr/>
          <p:nvPr/>
        </p:nvSpPr>
        <p:spPr>
          <a:xfrm>
            <a:off x="457200" y="3429000"/>
            <a:ext cx="2926080" cy="365760"/>
          </a:xfrm>
          <a:prstGeom prst="rect">
            <a:avLst/>
          </a:prstGeom>
          <a:noFill/>
          <a:ln/>
        </p:spPr>
        <p:txBody>
          <a:bodyPr wrap="square"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Processing Rate:</a:t>
            </a:r>
            <a:endParaRPr lang="en-US" sz="1400" dirty="0"/>
          </a:p>
        </p:txBody>
      </p:sp>
      <p:sp>
        <p:nvSpPr>
          <p:cNvPr id="18" name="Shape 16"/>
          <p:cNvSpPr/>
          <p:nvPr/>
        </p:nvSpPr>
        <p:spPr>
          <a:xfrm>
            <a:off x="3383280" y="3493008"/>
            <a:ext cx="7772400" cy="256032"/>
          </a:xfrm>
          <a:prstGeom prst="rect">
            <a:avLst/>
          </a:prstGeom>
          <a:solidFill>
            <a:srgbClr val="E5E7EB"/>
          </a:solidFill>
          <a:ln/>
        </p:spPr>
      </p:sp>
      <p:sp>
        <p:nvSpPr>
          <p:cNvPr id="19" name="Shape 17"/>
          <p:cNvSpPr/>
          <p:nvPr/>
        </p:nvSpPr>
        <p:spPr>
          <a:xfrm>
            <a:off x="3383280" y="3493008"/>
            <a:ext cx="5852160" cy="256032"/>
          </a:xfrm>
          <a:prstGeom prst="rect">
            <a:avLst/>
          </a:prstGeom>
          <a:solidFill>
            <a:srgbClr val="16A34A"/>
          </a:solidFill>
          <a:ln/>
        </p:spPr>
      </p:sp>
      <p:sp>
        <p:nvSpPr>
          <p:cNvPr id="20" name="Text 18"/>
          <p:cNvSpPr/>
          <p:nvPr/>
        </p:nvSpPr>
        <p:spPr>
          <a:xfrm>
            <a:off x="9418320" y="3456432"/>
            <a:ext cx="1645920" cy="329184"/>
          </a:xfrm>
          <a:prstGeom prst="rect">
            <a:avLst/>
          </a:prstGeom>
          <a:noFill/>
          <a:ln/>
        </p:spPr>
        <p:txBody>
          <a:bodyPr wrap="square" rtlCol="0" anchor="ctr"/>
          <a:lstStyle/>
          <a:p>
            <a:pPr indent="0" marL="0">
              <a:buNone/>
            </a:pPr>
            <a:r>
              <a:rPr lang="en-US" sz="1400" b="1" dirty="0">
                <a:solidFill>
                  <a:srgbClr val="16A34A"/>
                </a:solidFill>
                <a:latin typeface="Calibri" pitchFamily="34" charset="0"/>
                <a:ea typeface="Calibri" pitchFamily="34" charset="-122"/>
                <a:cs typeface="Calibri" pitchFamily="34" charset="-120"/>
              </a:rPr>
              <a:t>75%</a:t>
            </a:r>
            <a:endParaRPr lang="en-US" sz="1400" dirty="0"/>
          </a:p>
        </p:txBody>
      </p:sp>
      <p:sp>
        <p:nvSpPr>
          <p:cNvPr id="21" name="Text 19"/>
          <p:cNvSpPr/>
          <p:nvPr/>
        </p:nvSpPr>
        <p:spPr>
          <a:xfrm>
            <a:off x="365760" y="3931920"/>
            <a:ext cx="11155680" cy="1371600"/>
          </a:xfrm>
          <a:prstGeom prst="rect">
            <a:avLst/>
          </a:prstGeom>
          <a:noFill/>
          <a:ln/>
        </p:spPr>
        <p:txBody>
          <a:bodyPr wrap="square" rtlCol="0" anchor="t"/>
          <a:lstStyle/>
          <a:p>
            <a:r>
              <a:rPr lang="en-US" sz="1600" dirty="0">
                <a:solidFill>
                  <a:srgbClr val="1F2937"/>
                </a:solidFill>
                <a:latin typeface="Calibri" pitchFamily="34" charset="0"/>
                <a:ea typeface="Calibri" pitchFamily="34" charset="-122"/>
                <a:cs typeface="Calibri" pitchFamily="34" charset="-120"/>
              </a:rPr>
              <a:t>Numbers shown are specific to YOUR office</a:t>
            </a:r>
            <a:pPr indent="0" marL="0">
              <a:buNone/>
            </a:pPr>
            <a:r>
              <a:rPr lang="en-US" sz="1600" dirty="0">
                <a:solidFill>
                  <a:srgbClr val="1F2937"/>
                </a:solidFill>
                <a:latin typeface="Calibri" pitchFamily="34" charset="0"/>
                <a:ea typeface="Calibri" pitchFamily="34" charset="-122"/>
                <a:cs typeface="Calibri" pitchFamily="34" charset="-120"/>
              </a:rPr>
              <a:t>Higher processing rate = better performance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to Create a New Document</a:t>
            </a:r>
            <a:endParaRPr lang="en-US" sz="2400" dirty="0"/>
          </a:p>
        </p:txBody>
      </p:sp>
      <p:sp>
        <p:nvSpPr>
          <p:cNvPr id="4" name="Shape 2"/>
          <p:cNvSpPr/>
          <p:nvPr/>
        </p:nvSpPr>
        <p:spPr>
          <a:xfrm>
            <a:off x="0" y="1280160"/>
            <a:ext cx="12192000" cy="54864"/>
          </a:xfrm>
          <a:prstGeom prst="rect">
            <a:avLst/>
          </a:prstGeom>
          <a:solidFill>
            <a:srgbClr val="3B82F6"/>
          </a:solidFill>
          <a:ln/>
        </p:spPr>
      </p:sp>
      <p:sp>
        <p:nvSpPr>
          <p:cNvPr id="5" name="Shape 3"/>
          <p:cNvSpPr/>
          <p:nvPr/>
        </p:nvSpPr>
        <p:spPr>
          <a:xfrm>
            <a:off x="0" y="6309360"/>
            <a:ext cx="12192000" cy="347472"/>
          </a:xfrm>
          <a:prstGeom prst="rect">
            <a:avLst/>
          </a:prstGeom>
          <a:solidFill>
            <a:srgbClr val="1B3A5C"/>
          </a:solidFill>
          <a:ln/>
        </p:spPr>
      </p:sp>
      <p:sp>
        <p:nvSpPr>
          <p:cNvPr id="6" name="Text 4"/>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7" name="Shape 5"/>
          <p:cNvSpPr/>
          <p:nvPr/>
        </p:nvSpPr>
        <p:spPr>
          <a:xfrm>
            <a:off x="274320" y="1527048"/>
            <a:ext cx="402336" cy="402336"/>
          </a:xfrm>
          <a:prstGeom prst="ellipse">
            <a:avLst/>
          </a:prstGeom>
          <a:solidFill>
            <a:srgbClr val="2563EB"/>
          </a:solidFill>
          <a:ln w="12700">
            <a:solidFill>
              <a:srgbClr val="2563EB"/>
            </a:solidFill>
            <a:prstDash val="solid"/>
          </a:ln>
        </p:spPr>
      </p:sp>
      <p:sp>
        <p:nvSpPr>
          <p:cNvPr id="8" name="Text 6"/>
          <p:cNvSpPr/>
          <p:nvPr/>
        </p:nvSpPr>
        <p:spPr>
          <a:xfrm>
            <a:off x="274320" y="152704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22960" y="1508760"/>
            <a:ext cx="10698480" cy="50292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Click New Document in the sidebar</a:t>
            </a:r>
            <a:endParaRPr lang="en-US" sz="1600" dirty="0"/>
          </a:p>
        </p:txBody>
      </p:sp>
      <p:sp>
        <p:nvSpPr>
          <p:cNvPr id="10" name="Shape 8"/>
          <p:cNvSpPr/>
          <p:nvPr/>
        </p:nvSpPr>
        <p:spPr>
          <a:xfrm>
            <a:off x="274320" y="2139696"/>
            <a:ext cx="402336" cy="402336"/>
          </a:xfrm>
          <a:prstGeom prst="ellipse">
            <a:avLst/>
          </a:prstGeom>
          <a:solidFill>
            <a:srgbClr val="2563EB"/>
          </a:solidFill>
          <a:ln w="12700">
            <a:solidFill>
              <a:srgbClr val="2563EB"/>
            </a:solidFill>
            <a:prstDash val="solid"/>
          </a:ln>
        </p:spPr>
      </p:sp>
      <p:sp>
        <p:nvSpPr>
          <p:cNvPr id="11" name="Text 9"/>
          <p:cNvSpPr/>
          <p:nvPr/>
        </p:nvSpPr>
        <p:spPr>
          <a:xfrm>
            <a:off x="274320" y="213969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822960" y="2121408"/>
            <a:ext cx="10698480" cy="50292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Select Source:  Internal  or  External</a:t>
            </a:r>
            <a:endParaRPr lang="en-US" sz="1600" dirty="0"/>
          </a:p>
        </p:txBody>
      </p:sp>
      <p:sp>
        <p:nvSpPr>
          <p:cNvPr id="13" name="Shape 11"/>
          <p:cNvSpPr/>
          <p:nvPr/>
        </p:nvSpPr>
        <p:spPr>
          <a:xfrm>
            <a:off x="274320" y="2752344"/>
            <a:ext cx="402336" cy="402336"/>
          </a:xfrm>
          <a:prstGeom prst="ellipse">
            <a:avLst/>
          </a:prstGeom>
          <a:solidFill>
            <a:srgbClr val="2563EB"/>
          </a:solidFill>
          <a:ln w="12700">
            <a:solidFill>
              <a:srgbClr val="2563EB"/>
            </a:solidFill>
            <a:prstDash val="solid"/>
          </a:ln>
        </p:spPr>
      </p:sp>
      <p:sp>
        <p:nvSpPr>
          <p:cNvPr id="14" name="Text 12"/>
          <p:cNvSpPr/>
          <p:nvPr/>
        </p:nvSpPr>
        <p:spPr>
          <a:xfrm>
            <a:off x="274320" y="275234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822960" y="2734056"/>
            <a:ext cx="10698480" cy="50292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Select Category  (e.g. Purchase Request, Payment)</a:t>
            </a:r>
            <a:endParaRPr lang="en-US" sz="1600" dirty="0"/>
          </a:p>
        </p:txBody>
      </p:sp>
      <p:sp>
        <p:nvSpPr>
          <p:cNvPr id="16" name="Shape 14"/>
          <p:cNvSpPr/>
          <p:nvPr/>
        </p:nvSpPr>
        <p:spPr>
          <a:xfrm>
            <a:off x="274320" y="3364992"/>
            <a:ext cx="402336" cy="402336"/>
          </a:xfrm>
          <a:prstGeom prst="ellipse">
            <a:avLst/>
          </a:prstGeom>
          <a:solidFill>
            <a:srgbClr val="2563EB"/>
          </a:solidFill>
          <a:ln w="12700">
            <a:solidFill>
              <a:srgbClr val="2563EB"/>
            </a:solidFill>
            <a:prstDash val="solid"/>
          </a:ln>
        </p:spPr>
      </p:sp>
      <p:sp>
        <p:nvSpPr>
          <p:cNvPr id="17" name="Text 15"/>
          <p:cNvSpPr/>
          <p:nvPr/>
        </p:nvSpPr>
        <p:spPr>
          <a:xfrm>
            <a:off x="274320" y="336499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822960" y="3346704"/>
            <a:ext cx="10698480" cy="50292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Type the Subject</a:t>
            </a:r>
            <a:endParaRPr lang="en-US" sz="1600" dirty="0"/>
          </a:p>
        </p:txBody>
      </p:sp>
      <p:sp>
        <p:nvSpPr>
          <p:cNvPr id="19" name="Shape 17"/>
          <p:cNvSpPr/>
          <p:nvPr/>
        </p:nvSpPr>
        <p:spPr>
          <a:xfrm>
            <a:off x="274320" y="3977640"/>
            <a:ext cx="402336" cy="402336"/>
          </a:xfrm>
          <a:prstGeom prst="ellipse">
            <a:avLst/>
          </a:prstGeom>
          <a:solidFill>
            <a:srgbClr val="2563EB"/>
          </a:solidFill>
          <a:ln w="12700">
            <a:solidFill>
              <a:srgbClr val="2563EB"/>
            </a:solidFill>
            <a:prstDash val="solid"/>
          </a:ln>
        </p:spPr>
      </p:sp>
      <p:sp>
        <p:nvSpPr>
          <p:cNvPr id="20" name="Text 18"/>
          <p:cNvSpPr/>
          <p:nvPr/>
        </p:nvSpPr>
        <p:spPr>
          <a:xfrm>
            <a:off x="274320" y="397764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p:nvPr/>
        </p:nvSpPr>
        <p:spPr>
          <a:xfrm>
            <a:off x="822960" y="3959352"/>
            <a:ext cx="10698480" cy="50292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Check ARTA if the document is time-sensitive</a:t>
            </a:r>
            <a:endParaRPr lang="en-US" sz="1600" dirty="0"/>
          </a:p>
        </p:txBody>
      </p:sp>
      <p:sp>
        <p:nvSpPr>
          <p:cNvPr id="22" name="Shape 20"/>
          <p:cNvSpPr/>
          <p:nvPr/>
        </p:nvSpPr>
        <p:spPr>
          <a:xfrm>
            <a:off x="274320" y="4590288"/>
            <a:ext cx="402336" cy="402336"/>
          </a:xfrm>
          <a:prstGeom prst="ellipse">
            <a:avLst/>
          </a:prstGeom>
          <a:solidFill>
            <a:srgbClr val="2563EB"/>
          </a:solidFill>
          <a:ln w="12700">
            <a:solidFill>
              <a:srgbClr val="2563EB"/>
            </a:solidFill>
            <a:prstDash val="solid"/>
          </a:ln>
        </p:spPr>
      </p:sp>
      <p:sp>
        <p:nvSpPr>
          <p:cNvPr id="23" name="Text 21"/>
          <p:cNvSpPr/>
          <p:nvPr/>
        </p:nvSpPr>
        <p:spPr>
          <a:xfrm>
            <a:off x="274320" y="45902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4" name="Text 22"/>
          <p:cNvSpPr/>
          <p:nvPr/>
        </p:nvSpPr>
        <p:spPr>
          <a:xfrm>
            <a:off x="822960" y="4572000"/>
            <a:ext cx="10698480" cy="50292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Select the office to Forward To</a:t>
            </a:r>
            <a:endParaRPr lang="en-US" sz="1600" dirty="0"/>
          </a:p>
        </p:txBody>
      </p:sp>
      <p:sp>
        <p:nvSpPr>
          <p:cNvPr id="25" name="Shape 23"/>
          <p:cNvSpPr/>
          <p:nvPr/>
        </p:nvSpPr>
        <p:spPr>
          <a:xfrm>
            <a:off x="274320" y="5202936"/>
            <a:ext cx="402336" cy="402336"/>
          </a:xfrm>
          <a:prstGeom prst="ellipse">
            <a:avLst/>
          </a:prstGeom>
          <a:solidFill>
            <a:srgbClr val="2563EB"/>
          </a:solidFill>
          <a:ln w="12700">
            <a:solidFill>
              <a:srgbClr val="2563EB"/>
            </a:solidFill>
            <a:prstDash val="solid"/>
          </a:ln>
        </p:spPr>
      </p:sp>
      <p:sp>
        <p:nvSpPr>
          <p:cNvPr id="26" name="Text 24"/>
          <p:cNvSpPr/>
          <p:nvPr/>
        </p:nvSpPr>
        <p:spPr>
          <a:xfrm>
            <a:off x="274320" y="520293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7" name="Text 25"/>
          <p:cNvSpPr/>
          <p:nvPr/>
        </p:nvSpPr>
        <p:spPr>
          <a:xfrm>
            <a:off x="822960" y="5184648"/>
            <a:ext cx="10698480" cy="50292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Click Submit — control number is generated automatically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Understanding the Form Fields</a:t>
            </a:r>
            <a:endParaRPr lang="en-US" sz="2400" dirty="0"/>
          </a:p>
        </p:txBody>
      </p:sp>
      <p:sp>
        <p:nvSpPr>
          <p:cNvPr id="4" name="Shape 2"/>
          <p:cNvSpPr/>
          <p:nvPr/>
        </p:nvSpPr>
        <p:spPr>
          <a:xfrm>
            <a:off x="0" y="1280160"/>
            <a:ext cx="12192000" cy="54864"/>
          </a:xfrm>
          <a:prstGeom prst="rect">
            <a:avLst/>
          </a:prstGeom>
          <a:solidFill>
            <a:srgbClr val="3B82F6"/>
          </a:solidFill>
          <a:ln/>
        </p:spPr>
      </p:sp>
      <p:sp>
        <p:nvSpPr>
          <p:cNvPr id="5" name="Shape 3"/>
          <p:cNvSpPr/>
          <p:nvPr/>
        </p:nvSpPr>
        <p:spPr>
          <a:xfrm>
            <a:off x="0" y="6309360"/>
            <a:ext cx="12192000" cy="347472"/>
          </a:xfrm>
          <a:prstGeom prst="rect">
            <a:avLst/>
          </a:prstGeom>
          <a:solidFill>
            <a:srgbClr val="1B3A5C"/>
          </a:solidFill>
          <a:ln/>
        </p:spPr>
      </p:sp>
      <p:sp>
        <p:nvSpPr>
          <p:cNvPr id="6" name="Text 4"/>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508760"/>
          <a:ext cx="11155680" cy="914400"/>
        </p:xfrm>
        <a:graphic>
          <a:graphicData uri="http://schemas.openxmlformats.org/drawingml/2006/table">
            <a:tbl>
              <a:tblPr/>
              <a:tblGrid>
                <a:gridCol w="5577840"/>
                <a:gridCol w="557784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Field</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What to Enter</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Internal = from within the agency;  External = from outside (public or another agency)</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Type of document — matches the physical document type (e.g. Purchase Request)</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Subject</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Brief description of what the document is about</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ARTA</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Check if the document falls under Anti-Red Tape Act coverage</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Forward To</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The office that should receive and process this document next</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to Receive a Document</a:t>
            </a:r>
            <a:endParaRPr lang="en-US" sz="2400" dirty="0"/>
          </a:p>
        </p:txBody>
      </p:sp>
      <p:sp>
        <p:nvSpPr>
          <p:cNvPr id="4" name="Shape 2"/>
          <p:cNvSpPr/>
          <p:nvPr/>
        </p:nvSpPr>
        <p:spPr>
          <a:xfrm>
            <a:off x="0" y="1280160"/>
            <a:ext cx="12192000" cy="54864"/>
          </a:xfrm>
          <a:prstGeom prst="rect">
            <a:avLst/>
          </a:prstGeom>
          <a:solidFill>
            <a:srgbClr val="3B82F6"/>
          </a:solidFill>
          <a:ln/>
        </p:spPr>
      </p:sp>
      <p:sp>
        <p:nvSpPr>
          <p:cNvPr id="5" name="Shape 3"/>
          <p:cNvSpPr/>
          <p:nvPr/>
        </p:nvSpPr>
        <p:spPr>
          <a:xfrm>
            <a:off x="0" y="6309360"/>
            <a:ext cx="12192000" cy="347472"/>
          </a:xfrm>
          <a:prstGeom prst="rect">
            <a:avLst/>
          </a:prstGeom>
          <a:solidFill>
            <a:srgbClr val="1B3A5C"/>
          </a:solidFill>
          <a:ln/>
        </p:spPr>
      </p:sp>
      <p:sp>
        <p:nvSpPr>
          <p:cNvPr id="6" name="Text 4"/>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7" name="Shape 5"/>
          <p:cNvSpPr/>
          <p:nvPr/>
        </p:nvSpPr>
        <p:spPr>
          <a:xfrm>
            <a:off x="274320" y="1527048"/>
            <a:ext cx="402336" cy="402336"/>
          </a:xfrm>
          <a:prstGeom prst="ellipse">
            <a:avLst/>
          </a:prstGeom>
          <a:solidFill>
            <a:srgbClr val="16A34A"/>
          </a:solidFill>
          <a:ln w="12700">
            <a:solidFill>
              <a:srgbClr val="16A34A"/>
            </a:solidFill>
            <a:prstDash val="solid"/>
          </a:ln>
        </p:spPr>
      </p:sp>
      <p:sp>
        <p:nvSpPr>
          <p:cNvPr id="8" name="Text 6"/>
          <p:cNvSpPr/>
          <p:nvPr/>
        </p:nvSpPr>
        <p:spPr>
          <a:xfrm>
            <a:off x="274320" y="152704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22960" y="1508760"/>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Click  Status → Incoming  in the sidebar</a:t>
            </a:r>
            <a:endParaRPr lang="en-US" sz="1600" dirty="0"/>
          </a:p>
        </p:txBody>
      </p:sp>
      <p:sp>
        <p:nvSpPr>
          <p:cNvPr id="10" name="Shape 8"/>
          <p:cNvSpPr/>
          <p:nvPr/>
        </p:nvSpPr>
        <p:spPr>
          <a:xfrm>
            <a:off x="274320" y="2185416"/>
            <a:ext cx="402336" cy="402336"/>
          </a:xfrm>
          <a:prstGeom prst="ellipse">
            <a:avLst/>
          </a:prstGeom>
          <a:solidFill>
            <a:srgbClr val="16A34A"/>
          </a:solidFill>
          <a:ln w="12700">
            <a:solidFill>
              <a:srgbClr val="16A34A"/>
            </a:solidFill>
            <a:prstDash val="solid"/>
          </a:ln>
        </p:spPr>
      </p:sp>
      <p:sp>
        <p:nvSpPr>
          <p:cNvPr id="11" name="Text 9"/>
          <p:cNvSpPr/>
          <p:nvPr/>
        </p:nvSpPr>
        <p:spPr>
          <a:xfrm>
            <a:off x="274320" y="218541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822960" y="2167128"/>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Find the document — search by control number or subject</a:t>
            </a:r>
            <a:endParaRPr lang="en-US" sz="1600" dirty="0"/>
          </a:p>
        </p:txBody>
      </p:sp>
      <p:sp>
        <p:nvSpPr>
          <p:cNvPr id="13" name="Shape 11"/>
          <p:cNvSpPr/>
          <p:nvPr/>
        </p:nvSpPr>
        <p:spPr>
          <a:xfrm>
            <a:off x="274320" y="2843784"/>
            <a:ext cx="402336" cy="402336"/>
          </a:xfrm>
          <a:prstGeom prst="ellipse">
            <a:avLst/>
          </a:prstGeom>
          <a:solidFill>
            <a:srgbClr val="16A34A"/>
          </a:solidFill>
          <a:ln w="12700">
            <a:solidFill>
              <a:srgbClr val="16A34A"/>
            </a:solidFill>
            <a:prstDash val="solid"/>
          </a:ln>
        </p:spPr>
      </p:sp>
      <p:sp>
        <p:nvSpPr>
          <p:cNvPr id="14" name="Text 12"/>
          <p:cNvSpPr/>
          <p:nvPr/>
        </p:nvSpPr>
        <p:spPr>
          <a:xfrm>
            <a:off x="274320" y="284378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822960" y="2825496"/>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Click the document to open it</a:t>
            </a:r>
            <a:endParaRPr lang="en-US" sz="1600" dirty="0"/>
          </a:p>
        </p:txBody>
      </p:sp>
      <p:sp>
        <p:nvSpPr>
          <p:cNvPr id="16" name="Shape 14"/>
          <p:cNvSpPr/>
          <p:nvPr/>
        </p:nvSpPr>
        <p:spPr>
          <a:xfrm>
            <a:off x="274320" y="3502152"/>
            <a:ext cx="402336" cy="402336"/>
          </a:xfrm>
          <a:prstGeom prst="ellipse">
            <a:avLst/>
          </a:prstGeom>
          <a:solidFill>
            <a:srgbClr val="16A34A"/>
          </a:solidFill>
          <a:ln w="12700">
            <a:solidFill>
              <a:srgbClr val="16A34A"/>
            </a:solidFill>
            <a:prstDash val="solid"/>
          </a:ln>
        </p:spPr>
      </p:sp>
      <p:sp>
        <p:nvSpPr>
          <p:cNvPr id="17" name="Text 15"/>
          <p:cNvSpPr/>
          <p:nvPr/>
        </p:nvSpPr>
        <p:spPr>
          <a:xfrm>
            <a:off x="274320" y="350215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822960" y="3483864"/>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Click  Receive</a:t>
            </a:r>
            <a:endParaRPr lang="en-US" sz="1600" dirty="0"/>
          </a:p>
        </p:txBody>
      </p:sp>
      <p:sp>
        <p:nvSpPr>
          <p:cNvPr id="19" name="Shape 17"/>
          <p:cNvSpPr/>
          <p:nvPr/>
        </p:nvSpPr>
        <p:spPr>
          <a:xfrm>
            <a:off x="274320" y="4160520"/>
            <a:ext cx="402336" cy="402336"/>
          </a:xfrm>
          <a:prstGeom prst="ellipse">
            <a:avLst/>
          </a:prstGeom>
          <a:solidFill>
            <a:srgbClr val="16A34A"/>
          </a:solidFill>
          <a:ln w="12700">
            <a:solidFill>
              <a:srgbClr val="16A34A"/>
            </a:solidFill>
            <a:prstDash val="solid"/>
          </a:ln>
        </p:spPr>
      </p:sp>
      <p:sp>
        <p:nvSpPr>
          <p:cNvPr id="20" name="Text 18"/>
          <p:cNvSpPr/>
          <p:nvPr/>
        </p:nvSpPr>
        <p:spPr>
          <a:xfrm>
            <a:off x="274320" y="416052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p:nvPr/>
        </p:nvSpPr>
        <p:spPr>
          <a:xfrm>
            <a:off x="822960" y="4142232"/>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Status changes to  On Process</a:t>
            </a:r>
            <a:endParaRPr lang="en-US" sz="1600" dirty="0"/>
          </a:p>
        </p:txBody>
      </p:sp>
      <p:sp>
        <p:nvSpPr>
          <p:cNvPr id="22" name="Shape 20"/>
          <p:cNvSpPr/>
          <p:nvPr/>
        </p:nvSpPr>
        <p:spPr>
          <a:xfrm>
            <a:off x="274320" y="4818888"/>
            <a:ext cx="402336" cy="402336"/>
          </a:xfrm>
          <a:prstGeom prst="ellipse">
            <a:avLst/>
          </a:prstGeom>
          <a:solidFill>
            <a:srgbClr val="16A34A"/>
          </a:solidFill>
          <a:ln w="12700">
            <a:solidFill>
              <a:srgbClr val="16A34A"/>
            </a:solidFill>
            <a:prstDash val="solid"/>
          </a:ln>
        </p:spPr>
      </p:sp>
      <p:sp>
        <p:nvSpPr>
          <p:cNvPr id="23" name="Text 21"/>
          <p:cNvSpPr/>
          <p:nvPr/>
        </p:nvSpPr>
        <p:spPr>
          <a:xfrm>
            <a:off x="274320" y="48188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4" name="Text 22"/>
          <p:cNvSpPr/>
          <p:nvPr/>
        </p:nvSpPr>
        <p:spPr>
          <a:xfrm>
            <a:off x="822960" y="4800600"/>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Document now appears in your  Pending  list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Navigating the Status Views</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Think of these as folders in your inbox</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508760"/>
          <a:ext cx="11155680" cy="914400"/>
        </p:xfrm>
        <a:graphic>
          <a:graphicData uri="http://schemas.openxmlformats.org/drawingml/2006/table">
            <a:tbl>
              <a:tblPr/>
              <a:tblGrid>
                <a:gridCol w="3718560"/>
                <a:gridCol w="3718560"/>
                <a:gridCol w="371856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Status View</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What It Contains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Action Needed?</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Incoming</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Documents sent TO your office — not yet received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YES — Receive them</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Pending</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Documents currently being processed by your office</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YES — Process them</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Endorsed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Documents your office has endorsed / approved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Forwarded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Documents your office has sent to another office</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Closed</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Completed documents — read only</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a Document Moves Through the System</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Document Lifecycle</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Shape 6"/>
          <p:cNvSpPr/>
          <p:nvPr/>
        </p:nvSpPr>
        <p:spPr>
          <a:xfrm>
            <a:off x="274320" y="1828800"/>
            <a:ext cx="1920240" cy="1097280"/>
          </a:xfrm>
          <a:prstGeom prst="rect">
            <a:avLst/>
          </a:prstGeom>
          <a:solidFill>
            <a:srgbClr val="2563EB"/>
          </a:solidFill>
          <a:ln w="12700">
            <a:solidFill>
              <a:srgbClr val="2563EB"/>
            </a:solidFill>
            <a:prstDash val="solid"/>
          </a:ln>
        </p:spPr>
      </p:sp>
      <p:sp>
        <p:nvSpPr>
          <p:cNvPr id="9" name="Text 7"/>
          <p:cNvSpPr/>
          <p:nvPr/>
        </p:nvSpPr>
        <p:spPr>
          <a:xfrm>
            <a:off x="274320" y="182880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Office A</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Creates Doc</a:t>
            </a:r>
            <a:endParaRPr lang="en-US" sz="1300" dirty="0"/>
          </a:p>
        </p:txBody>
      </p:sp>
      <p:sp>
        <p:nvSpPr>
          <p:cNvPr id="10" name="Shape 8"/>
          <p:cNvSpPr/>
          <p:nvPr/>
        </p:nvSpPr>
        <p:spPr>
          <a:xfrm>
            <a:off x="2468880" y="1828800"/>
            <a:ext cx="1920240" cy="1097280"/>
          </a:xfrm>
          <a:prstGeom prst="rect">
            <a:avLst/>
          </a:prstGeom>
          <a:solidFill>
            <a:srgbClr val="D97706"/>
          </a:solidFill>
          <a:ln w="12700">
            <a:solidFill>
              <a:srgbClr val="D97706"/>
            </a:solidFill>
            <a:prstDash val="solid"/>
          </a:ln>
        </p:spPr>
      </p:sp>
      <p:sp>
        <p:nvSpPr>
          <p:cNvPr id="11" name="Text 9"/>
          <p:cNvSpPr/>
          <p:nvPr/>
        </p:nvSpPr>
        <p:spPr>
          <a:xfrm>
            <a:off x="2468880" y="182880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Receiving</a:t>
            </a:r>
            <a:endParaRPr lang="en-US" sz="1300" dirty="0"/>
          </a:p>
        </p:txBody>
      </p:sp>
      <p:sp>
        <p:nvSpPr>
          <p:cNvPr id="12" name="Shape 10"/>
          <p:cNvSpPr/>
          <p:nvPr/>
        </p:nvSpPr>
        <p:spPr>
          <a:xfrm>
            <a:off x="4663440" y="1828800"/>
            <a:ext cx="1920240" cy="1097280"/>
          </a:xfrm>
          <a:prstGeom prst="rect">
            <a:avLst/>
          </a:prstGeom>
          <a:solidFill>
            <a:srgbClr val="2563EB"/>
          </a:solidFill>
          <a:ln w="12700">
            <a:solidFill>
              <a:srgbClr val="2563EB"/>
            </a:solidFill>
            <a:prstDash val="solid"/>
          </a:ln>
        </p:spPr>
      </p:sp>
      <p:sp>
        <p:nvSpPr>
          <p:cNvPr id="13" name="Text 11"/>
          <p:cNvSpPr/>
          <p:nvPr/>
        </p:nvSpPr>
        <p:spPr>
          <a:xfrm>
            <a:off x="4663440" y="182880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Office B</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Receives</a:t>
            </a:r>
            <a:endParaRPr lang="en-US" sz="1300" dirty="0"/>
          </a:p>
        </p:txBody>
      </p:sp>
      <p:sp>
        <p:nvSpPr>
          <p:cNvPr id="14" name="Shape 12"/>
          <p:cNvSpPr/>
          <p:nvPr/>
        </p:nvSpPr>
        <p:spPr>
          <a:xfrm>
            <a:off x="6858000" y="1828800"/>
            <a:ext cx="1920240" cy="1097280"/>
          </a:xfrm>
          <a:prstGeom prst="rect">
            <a:avLst/>
          </a:prstGeom>
          <a:solidFill>
            <a:srgbClr val="D97706"/>
          </a:solidFill>
          <a:ln w="12700">
            <a:solidFill>
              <a:srgbClr val="D97706"/>
            </a:solidFill>
            <a:prstDash val="solid"/>
          </a:ln>
        </p:spPr>
      </p:sp>
      <p:sp>
        <p:nvSpPr>
          <p:cNvPr id="15" name="Text 13"/>
          <p:cNvSpPr/>
          <p:nvPr/>
        </p:nvSpPr>
        <p:spPr>
          <a:xfrm>
            <a:off x="6858000" y="182880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Process</a:t>
            </a:r>
            <a:endParaRPr lang="en-US" sz="1300" dirty="0"/>
          </a:p>
        </p:txBody>
      </p:sp>
      <p:sp>
        <p:nvSpPr>
          <p:cNvPr id="16" name="Shape 14"/>
          <p:cNvSpPr/>
          <p:nvPr/>
        </p:nvSpPr>
        <p:spPr>
          <a:xfrm>
            <a:off x="9052560" y="1828800"/>
            <a:ext cx="1920240" cy="1097280"/>
          </a:xfrm>
          <a:prstGeom prst="rect">
            <a:avLst/>
          </a:prstGeom>
          <a:solidFill>
            <a:srgbClr val="1B3A5C"/>
          </a:solidFill>
          <a:ln w="12700">
            <a:solidFill>
              <a:srgbClr val="1B3A5C"/>
            </a:solidFill>
            <a:prstDash val="solid"/>
          </a:ln>
        </p:spPr>
      </p:sp>
      <p:sp>
        <p:nvSpPr>
          <p:cNvPr id="17" name="Text 15"/>
          <p:cNvSpPr/>
          <p:nvPr/>
        </p:nvSpPr>
        <p:spPr>
          <a:xfrm>
            <a:off x="9052560" y="182880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Forward</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to Office C</a:t>
            </a:r>
            <a:endParaRPr lang="en-US" sz="1300" dirty="0"/>
          </a:p>
        </p:txBody>
      </p:sp>
      <p:sp>
        <p:nvSpPr>
          <p:cNvPr id="18" name="Shape 16"/>
          <p:cNvSpPr/>
          <p:nvPr/>
        </p:nvSpPr>
        <p:spPr>
          <a:xfrm>
            <a:off x="2194560" y="2313432"/>
            <a:ext cx="548640" cy="109728"/>
          </a:xfrm>
          <a:prstGeom prst="rect">
            <a:avLst/>
          </a:prstGeom>
          <a:solidFill>
            <a:srgbClr val="6B7280"/>
          </a:solidFill>
          <a:ln w="12700">
            <a:solidFill>
              <a:srgbClr val="6B7280"/>
            </a:solidFill>
            <a:prstDash val="solid"/>
          </a:ln>
        </p:spPr>
      </p:sp>
      <p:sp>
        <p:nvSpPr>
          <p:cNvPr id="19" name="Shape 17"/>
          <p:cNvSpPr/>
          <p:nvPr/>
        </p:nvSpPr>
        <p:spPr>
          <a:xfrm>
            <a:off x="4389120" y="2313432"/>
            <a:ext cx="548640" cy="109728"/>
          </a:xfrm>
          <a:prstGeom prst="rect">
            <a:avLst/>
          </a:prstGeom>
          <a:solidFill>
            <a:srgbClr val="6B7280"/>
          </a:solidFill>
          <a:ln w="12700">
            <a:solidFill>
              <a:srgbClr val="6B7280"/>
            </a:solidFill>
            <a:prstDash val="solid"/>
          </a:ln>
        </p:spPr>
      </p:sp>
      <p:sp>
        <p:nvSpPr>
          <p:cNvPr id="20" name="Shape 18"/>
          <p:cNvSpPr/>
          <p:nvPr/>
        </p:nvSpPr>
        <p:spPr>
          <a:xfrm>
            <a:off x="6583680" y="2313432"/>
            <a:ext cx="548640" cy="109728"/>
          </a:xfrm>
          <a:prstGeom prst="rect">
            <a:avLst/>
          </a:prstGeom>
          <a:solidFill>
            <a:srgbClr val="6B7280"/>
          </a:solidFill>
          <a:ln w="12700">
            <a:solidFill>
              <a:srgbClr val="6B7280"/>
            </a:solidFill>
            <a:prstDash val="solid"/>
          </a:ln>
        </p:spPr>
      </p:sp>
      <p:sp>
        <p:nvSpPr>
          <p:cNvPr id="21" name="Shape 19"/>
          <p:cNvSpPr/>
          <p:nvPr/>
        </p:nvSpPr>
        <p:spPr>
          <a:xfrm>
            <a:off x="8778240" y="2313432"/>
            <a:ext cx="548640" cy="109728"/>
          </a:xfrm>
          <a:prstGeom prst="rect">
            <a:avLst/>
          </a:prstGeom>
          <a:solidFill>
            <a:srgbClr val="6B7280"/>
          </a:solidFill>
          <a:ln w="12700">
            <a:solidFill>
              <a:srgbClr val="6B7280"/>
            </a:solidFill>
            <a:prstDash val="solid"/>
          </a:ln>
        </p:spPr>
      </p:sp>
      <p:sp>
        <p:nvSpPr>
          <p:cNvPr id="22" name="Shape 20"/>
          <p:cNvSpPr/>
          <p:nvPr/>
        </p:nvSpPr>
        <p:spPr>
          <a:xfrm>
            <a:off x="9052560" y="3291840"/>
            <a:ext cx="1920240" cy="1097280"/>
          </a:xfrm>
          <a:prstGeom prst="rect">
            <a:avLst/>
          </a:prstGeom>
          <a:solidFill>
            <a:srgbClr val="D97706"/>
          </a:solidFill>
          <a:ln w="12700">
            <a:solidFill>
              <a:srgbClr val="D97706"/>
            </a:solidFill>
            <a:prstDash val="solid"/>
          </a:ln>
        </p:spPr>
      </p:sp>
      <p:sp>
        <p:nvSpPr>
          <p:cNvPr id="23" name="Text 21"/>
          <p:cNvSpPr/>
          <p:nvPr/>
        </p:nvSpPr>
        <p:spPr>
          <a:xfrm>
            <a:off x="9052560" y="329184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Receiving</a:t>
            </a:r>
            <a:endParaRPr lang="en-US" sz="1300" dirty="0"/>
          </a:p>
        </p:txBody>
      </p:sp>
      <p:sp>
        <p:nvSpPr>
          <p:cNvPr id="24" name="Shape 22"/>
          <p:cNvSpPr/>
          <p:nvPr/>
        </p:nvSpPr>
        <p:spPr>
          <a:xfrm>
            <a:off x="6858000" y="3291840"/>
            <a:ext cx="1920240" cy="1097280"/>
          </a:xfrm>
          <a:prstGeom prst="rect">
            <a:avLst/>
          </a:prstGeom>
          <a:solidFill>
            <a:srgbClr val="2563EB"/>
          </a:solidFill>
          <a:ln w="12700">
            <a:solidFill>
              <a:srgbClr val="2563EB"/>
            </a:solidFill>
            <a:prstDash val="solid"/>
          </a:ln>
        </p:spPr>
      </p:sp>
      <p:sp>
        <p:nvSpPr>
          <p:cNvPr id="25" name="Text 23"/>
          <p:cNvSpPr/>
          <p:nvPr/>
        </p:nvSpPr>
        <p:spPr>
          <a:xfrm>
            <a:off x="6858000" y="329184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Office C</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Receives</a:t>
            </a:r>
            <a:endParaRPr lang="en-US" sz="1300" dirty="0"/>
          </a:p>
        </p:txBody>
      </p:sp>
      <p:sp>
        <p:nvSpPr>
          <p:cNvPr id="26" name="Shape 24"/>
          <p:cNvSpPr/>
          <p:nvPr/>
        </p:nvSpPr>
        <p:spPr>
          <a:xfrm>
            <a:off x="4663440" y="3291840"/>
            <a:ext cx="1920240" cy="1097280"/>
          </a:xfrm>
          <a:prstGeom prst="rect">
            <a:avLst/>
          </a:prstGeom>
          <a:solidFill>
            <a:srgbClr val="D97706"/>
          </a:solidFill>
          <a:ln w="12700">
            <a:solidFill>
              <a:srgbClr val="D97706"/>
            </a:solidFill>
            <a:prstDash val="solid"/>
          </a:ln>
        </p:spPr>
      </p:sp>
      <p:sp>
        <p:nvSpPr>
          <p:cNvPr id="27" name="Text 25"/>
          <p:cNvSpPr/>
          <p:nvPr/>
        </p:nvSpPr>
        <p:spPr>
          <a:xfrm>
            <a:off x="4663440" y="329184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Process</a:t>
            </a:r>
            <a:endParaRPr lang="en-US" sz="1300" dirty="0"/>
          </a:p>
        </p:txBody>
      </p:sp>
      <p:sp>
        <p:nvSpPr>
          <p:cNvPr id="28" name="Shape 26"/>
          <p:cNvSpPr/>
          <p:nvPr/>
        </p:nvSpPr>
        <p:spPr>
          <a:xfrm>
            <a:off x="2468880" y="3291840"/>
            <a:ext cx="1920240" cy="1097280"/>
          </a:xfrm>
          <a:prstGeom prst="rect">
            <a:avLst/>
          </a:prstGeom>
          <a:solidFill>
            <a:srgbClr val="16A34A"/>
          </a:solidFill>
          <a:ln w="12700">
            <a:solidFill>
              <a:srgbClr val="16A34A"/>
            </a:solidFill>
            <a:prstDash val="solid"/>
          </a:ln>
        </p:spPr>
      </p:sp>
      <p:sp>
        <p:nvSpPr>
          <p:cNvPr id="29" name="Text 27"/>
          <p:cNvSpPr/>
          <p:nvPr/>
        </p:nvSpPr>
        <p:spPr>
          <a:xfrm>
            <a:off x="2468880" y="3291840"/>
            <a:ext cx="1920240" cy="10972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Closed</a:t>
            </a:r>
            <a:endParaRPr lang="en-US" sz="1300" dirty="0"/>
          </a:p>
        </p:txBody>
      </p:sp>
      <p:sp>
        <p:nvSpPr>
          <p:cNvPr id="30" name="Shape 28"/>
          <p:cNvSpPr/>
          <p:nvPr/>
        </p:nvSpPr>
        <p:spPr>
          <a:xfrm>
            <a:off x="9966960" y="2926080"/>
            <a:ext cx="109728" cy="365760"/>
          </a:xfrm>
          <a:prstGeom prst="rect">
            <a:avLst/>
          </a:prstGeom>
          <a:solidFill>
            <a:srgbClr val="6B7280"/>
          </a:solidFill>
          <a:ln w="12700">
            <a:solidFill>
              <a:srgbClr val="6B7280"/>
            </a:solidFill>
            <a:prstDash val="solid"/>
          </a:ln>
        </p:spPr>
      </p:sp>
      <p:sp>
        <p:nvSpPr>
          <p:cNvPr id="31" name="Text 29"/>
          <p:cNvSpPr/>
          <p:nvPr/>
        </p:nvSpPr>
        <p:spPr>
          <a:xfrm>
            <a:off x="365760" y="4572000"/>
            <a:ext cx="11155680" cy="45720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A document can be forwarded multiple times before it is closed. Each movement is recorded in the log.</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How to Forward a Document</a:t>
            </a:r>
            <a:endParaRPr lang="en-US" sz="2400" dirty="0"/>
          </a:p>
        </p:txBody>
      </p:sp>
      <p:sp>
        <p:nvSpPr>
          <p:cNvPr id="4" name="Shape 2"/>
          <p:cNvSpPr/>
          <p:nvPr/>
        </p:nvSpPr>
        <p:spPr>
          <a:xfrm>
            <a:off x="0" y="1280160"/>
            <a:ext cx="12192000" cy="54864"/>
          </a:xfrm>
          <a:prstGeom prst="rect">
            <a:avLst/>
          </a:prstGeom>
          <a:solidFill>
            <a:srgbClr val="3B82F6"/>
          </a:solidFill>
          <a:ln/>
        </p:spPr>
      </p:sp>
      <p:sp>
        <p:nvSpPr>
          <p:cNvPr id="5" name="Shape 3"/>
          <p:cNvSpPr/>
          <p:nvPr/>
        </p:nvSpPr>
        <p:spPr>
          <a:xfrm>
            <a:off x="0" y="6309360"/>
            <a:ext cx="12192000" cy="347472"/>
          </a:xfrm>
          <a:prstGeom prst="rect">
            <a:avLst/>
          </a:prstGeom>
          <a:solidFill>
            <a:srgbClr val="1B3A5C"/>
          </a:solidFill>
          <a:ln/>
        </p:spPr>
      </p:sp>
      <p:sp>
        <p:nvSpPr>
          <p:cNvPr id="6" name="Text 4"/>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7" name="Shape 5"/>
          <p:cNvSpPr/>
          <p:nvPr/>
        </p:nvSpPr>
        <p:spPr>
          <a:xfrm>
            <a:off x="274320" y="1527048"/>
            <a:ext cx="402336" cy="402336"/>
          </a:xfrm>
          <a:prstGeom prst="ellipse">
            <a:avLst/>
          </a:prstGeom>
          <a:solidFill>
            <a:srgbClr val="1B3A5C"/>
          </a:solidFill>
          <a:ln w="12700">
            <a:solidFill>
              <a:srgbClr val="1B3A5C"/>
            </a:solidFill>
            <a:prstDash val="solid"/>
          </a:ln>
        </p:spPr>
      </p:sp>
      <p:sp>
        <p:nvSpPr>
          <p:cNvPr id="8" name="Text 6"/>
          <p:cNvSpPr/>
          <p:nvPr/>
        </p:nvSpPr>
        <p:spPr>
          <a:xfrm>
            <a:off x="274320" y="152704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822960" y="1508760"/>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Open the document from your  Pending  list</a:t>
            </a:r>
            <a:endParaRPr lang="en-US" sz="1600" dirty="0"/>
          </a:p>
        </p:txBody>
      </p:sp>
      <p:sp>
        <p:nvSpPr>
          <p:cNvPr id="10" name="Shape 8"/>
          <p:cNvSpPr/>
          <p:nvPr/>
        </p:nvSpPr>
        <p:spPr>
          <a:xfrm>
            <a:off x="274320" y="2185416"/>
            <a:ext cx="402336" cy="402336"/>
          </a:xfrm>
          <a:prstGeom prst="ellipse">
            <a:avLst/>
          </a:prstGeom>
          <a:solidFill>
            <a:srgbClr val="1B3A5C"/>
          </a:solidFill>
          <a:ln w="12700">
            <a:solidFill>
              <a:srgbClr val="1B3A5C"/>
            </a:solidFill>
            <a:prstDash val="solid"/>
          </a:ln>
        </p:spPr>
      </p:sp>
      <p:sp>
        <p:nvSpPr>
          <p:cNvPr id="11" name="Text 9"/>
          <p:cNvSpPr/>
          <p:nvPr/>
        </p:nvSpPr>
        <p:spPr>
          <a:xfrm>
            <a:off x="274320" y="2185416"/>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822960" y="2167128"/>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Click  Forward</a:t>
            </a:r>
            <a:endParaRPr lang="en-US" sz="1600" dirty="0"/>
          </a:p>
        </p:txBody>
      </p:sp>
      <p:sp>
        <p:nvSpPr>
          <p:cNvPr id="13" name="Shape 11"/>
          <p:cNvSpPr/>
          <p:nvPr/>
        </p:nvSpPr>
        <p:spPr>
          <a:xfrm>
            <a:off x="274320" y="2843784"/>
            <a:ext cx="402336" cy="402336"/>
          </a:xfrm>
          <a:prstGeom prst="ellipse">
            <a:avLst/>
          </a:prstGeom>
          <a:solidFill>
            <a:srgbClr val="1B3A5C"/>
          </a:solidFill>
          <a:ln w="12700">
            <a:solidFill>
              <a:srgbClr val="1B3A5C"/>
            </a:solidFill>
            <a:prstDash val="solid"/>
          </a:ln>
        </p:spPr>
      </p:sp>
      <p:sp>
        <p:nvSpPr>
          <p:cNvPr id="14" name="Text 12"/>
          <p:cNvSpPr/>
          <p:nvPr/>
        </p:nvSpPr>
        <p:spPr>
          <a:xfrm>
            <a:off x="274320" y="2843784"/>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822960" y="2825496"/>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Select the office to forward to</a:t>
            </a:r>
            <a:endParaRPr lang="en-US" sz="1600" dirty="0"/>
          </a:p>
        </p:txBody>
      </p:sp>
      <p:sp>
        <p:nvSpPr>
          <p:cNvPr id="16" name="Shape 14"/>
          <p:cNvSpPr/>
          <p:nvPr/>
        </p:nvSpPr>
        <p:spPr>
          <a:xfrm>
            <a:off x="274320" y="3502152"/>
            <a:ext cx="402336" cy="402336"/>
          </a:xfrm>
          <a:prstGeom prst="ellipse">
            <a:avLst/>
          </a:prstGeom>
          <a:solidFill>
            <a:srgbClr val="1B3A5C"/>
          </a:solidFill>
          <a:ln w="12700">
            <a:solidFill>
              <a:srgbClr val="1B3A5C"/>
            </a:solidFill>
            <a:prstDash val="solid"/>
          </a:ln>
        </p:spPr>
      </p:sp>
      <p:sp>
        <p:nvSpPr>
          <p:cNvPr id="17" name="Text 15"/>
          <p:cNvSpPr/>
          <p:nvPr/>
        </p:nvSpPr>
        <p:spPr>
          <a:xfrm>
            <a:off x="274320" y="3502152"/>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822960" y="3483864"/>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Add Remarks  (recommended — e.g. 'Forwarded for signature')</a:t>
            </a:r>
            <a:endParaRPr lang="en-US" sz="1600" dirty="0"/>
          </a:p>
        </p:txBody>
      </p:sp>
      <p:sp>
        <p:nvSpPr>
          <p:cNvPr id="19" name="Shape 17"/>
          <p:cNvSpPr/>
          <p:nvPr/>
        </p:nvSpPr>
        <p:spPr>
          <a:xfrm>
            <a:off x="274320" y="4160520"/>
            <a:ext cx="402336" cy="402336"/>
          </a:xfrm>
          <a:prstGeom prst="ellipse">
            <a:avLst/>
          </a:prstGeom>
          <a:solidFill>
            <a:srgbClr val="1B3A5C"/>
          </a:solidFill>
          <a:ln w="12700">
            <a:solidFill>
              <a:srgbClr val="1B3A5C"/>
            </a:solidFill>
            <a:prstDash val="solid"/>
          </a:ln>
        </p:spPr>
      </p:sp>
      <p:sp>
        <p:nvSpPr>
          <p:cNvPr id="20" name="Text 18"/>
          <p:cNvSpPr/>
          <p:nvPr/>
        </p:nvSpPr>
        <p:spPr>
          <a:xfrm>
            <a:off x="274320" y="4160520"/>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p:nvPr/>
        </p:nvSpPr>
        <p:spPr>
          <a:xfrm>
            <a:off x="822960" y="4142232"/>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Click  Confirm</a:t>
            </a:r>
            <a:endParaRPr lang="en-US" sz="1600" dirty="0"/>
          </a:p>
        </p:txBody>
      </p:sp>
      <p:sp>
        <p:nvSpPr>
          <p:cNvPr id="22" name="Shape 20"/>
          <p:cNvSpPr/>
          <p:nvPr/>
        </p:nvSpPr>
        <p:spPr>
          <a:xfrm>
            <a:off x="274320" y="4818888"/>
            <a:ext cx="402336" cy="402336"/>
          </a:xfrm>
          <a:prstGeom prst="ellipse">
            <a:avLst/>
          </a:prstGeom>
          <a:solidFill>
            <a:srgbClr val="1B3A5C"/>
          </a:solidFill>
          <a:ln w="12700">
            <a:solidFill>
              <a:srgbClr val="1B3A5C"/>
            </a:solidFill>
            <a:prstDash val="solid"/>
          </a:ln>
        </p:spPr>
      </p:sp>
      <p:sp>
        <p:nvSpPr>
          <p:cNvPr id="23" name="Text 21"/>
          <p:cNvSpPr/>
          <p:nvPr/>
        </p:nvSpPr>
        <p:spPr>
          <a:xfrm>
            <a:off x="274320" y="4818888"/>
            <a:ext cx="402336" cy="40233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4" name="Text 22"/>
          <p:cNvSpPr/>
          <p:nvPr/>
        </p:nvSpPr>
        <p:spPr>
          <a:xfrm>
            <a:off x="822960" y="4800600"/>
            <a:ext cx="10698480" cy="54864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Document appears in the selected office's  Incoming  list</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Endorse vs. Close — What Is the Difference?</a:t>
            </a:r>
            <a:endParaRPr lang="en-US" sz="2400" dirty="0"/>
          </a:p>
        </p:txBody>
      </p:sp>
      <p:sp>
        <p:nvSpPr>
          <p:cNvPr id="4" name="Shape 2"/>
          <p:cNvSpPr/>
          <p:nvPr/>
        </p:nvSpPr>
        <p:spPr>
          <a:xfrm>
            <a:off x="0" y="1280160"/>
            <a:ext cx="12192000" cy="54864"/>
          </a:xfrm>
          <a:prstGeom prst="rect">
            <a:avLst/>
          </a:prstGeom>
          <a:solidFill>
            <a:srgbClr val="3B82F6"/>
          </a:solidFill>
          <a:ln/>
        </p:spPr>
      </p:sp>
      <p:sp>
        <p:nvSpPr>
          <p:cNvPr id="5" name="Shape 3"/>
          <p:cNvSpPr/>
          <p:nvPr/>
        </p:nvSpPr>
        <p:spPr>
          <a:xfrm>
            <a:off x="0" y="6309360"/>
            <a:ext cx="12192000" cy="347472"/>
          </a:xfrm>
          <a:prstGeom prst="rect">
            <a:avLst/>
          </a:prstGeom>
          <a:solidFill>
            <a:srgbClr val="1B3A5C"/>
          </a:solidFill>
          <a:ln/>
        </p:spPr>
      </p:sp>
      <p:sp>
        <p:nvSpPr>
          <p:cNvPr id="6" name="Text 4"/>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7" name="Shape 5"/>
          <p:cNvSpPr/>
          <p:nvPr/>
        </p:nvSpPr>
        <p:spPr>
          <a:xfrm>
            <a:off x="365760" y="1508760"/>
            <a:ext cx="5394960" cy="3840480"/>
          </a:xfrm>
          <a:prstGeom prst="rect">
            <a:avLst/>
          </a:prstGeom>
          <a:solidFill>
            <a:srgbClr val="EFF6FF"/>
          </a:solidFill>
          <a:ln w="12700">
            <a:solidFill>
              <a:srgbClr val="3B82F6"/>
            </a:solidFill>
            <a:prstDash val="solid"/>
          </a:ln>
        </p:spPr>
      </p:sp>
      <p:sp>
        <p:nvSpPr>
          <p:cNvPr id="8" name="Text 6"/>
          <p:cNvSpPr/>
          <p:nvPr/>
        </p:nvSpPr>
        <p:spPr>
          <a:xfrm>
            <a:off x="365760" y="1508760"/>
            <a:ext cx="5394960" cy="548640"/>
          </a:xfrm>
          <a:prstGeom prst="rect">
            <a:avLst/>
          </a:prstGeom>
          <a:solidFill>
            <a:srgbClr val="2563EB"/>
          </a:solid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ENDORSE</a:t>
            </a:r>
            <a:endParaRPr lang="en-US" sz="1800" dirty="0"/>
          </a:p>
        </p:txBody>
      </p:sp>
      <p:sp>
        <p:nvSpPr>
          <p:cNvPr id="9" name="Text 7"/>
          <p:cNvSpPr/>
          <p:nvPr/>
        </p:nvSpPr>
        <p:spPr>
          <a:xfrm>
            <a:off x="548640" y="2148840"/>
            <a:ext cx="5029200" cy="3017520"/>
          </a:xfrm>
          <a:prstGeom prst="rect">
            <a:avLst/>
          </a:prstGeom>
          <a:noFill/>
          <a:ln/>
        </p:spPr>
        <p:txBody>
          <a:bodyPr wrap="square" rtlCol="0" anchor="t"/>
          <a:lstStyle/>
          <a:p>
            <a:pPr indent="0" marL="0">
              <a:buNone/>
            </a:pPr>
            <a:r>
              <a:rPr lang="en-US" sz="1500" dirty="0">
                <a:solidFill>
                  <a:srgbClr val="1F2937"/>
                </a:solidFill>
                <a:latin typeface="Calibri" pitchFamily="34" charset="0"/>
                <a:ea typeface="Calibri" pitchFamily="34" charset="-122"/>
                <a:cs typeface="Calibri" pitchFamily="34" charset="-120"/>
              </a:rPr>
              <a:t>Document has been approved or signed off
</a:t>
            </a:r>
            <a:pPr indent="0" marL="0">
              <a:buNone/>
            </a:pPr>
            <a:r>
              <a:rPr lang="en-US" sz="1500" dirty="0">
                <a:solidFill>
                  <a:srgbClr val="1F2937"/>
                </a:solidFill>
                <a:latin typeface="Calibri" pitchFamily="34" charset="0"/>
                <a:ea typeface="Calibri" pitchFamily="34" charset="-122"/>
                <a:cs typeface="Calibri" pitchFamily="34" charset="-120"/>
              </a:rPr>
              <a:t>Document continues — may still move to other offices
</a:t>
            </a:r>
            <a:pPr indent="0" marL="0">
              <a:buNone/>
            </a:pPr>
            <a:r>
              <a:rPr lang="en-US" sz="1500" b="1" dirty="0">
                <a:solidFill>
                  <a:srgbClr val="1B3A5C"/>
                </a:solidFill>
                <a:latin typeface="Calibri" pitchFamily="34" charset="0"/>
                <a:ea typeface="Calibri" pitchFamily="34" charset="-122"/>
                <a:cs typeface="Calibri" pitchFamily="34" charset="-120"/>
              </a:rPr>
              <a:t>Use when: </a:t>
            </a:r>
            <a:pPr indent="0" marL="0">
              <a:buNone/>
            </a:pPr>
            <a:r>
              <a:rPr lang="en-US" sz="1500" dirty="0">
                <a:solidFill>
                  <a:srgbClr val="1F2937"/>
                </a:solidFill>
                <a:latin typeface="Calibri" pitchFamily="34" charset="0"/>
                <a:ea typeface="Calibri" pitchFamily="34" charset="-122"/>
                <a:cs typeface="Calibri" pitchFamily="34" charset="-120"/>
              </a:rPr>
              <a:t>you are approving but the document is not yet complete</a:t>
            </a:r>
            <a:endParaRPr lang="en-US" sz="1500" dirty="0"/>
          </a:p>
        </p:txBody>
      </p:sp>
      <p:sp>
        <p:nvSpPr>
          <p:cNvPr id="10" name="Shape 8"/>
          <p:cNvSpPr/>
          <p:nvPr/>
        </p:nvSpPr>
        <p:spPr>
          <a:xfrm>
            <a:off x="6126480" y="1508760"/>
            <a:ext cx="5394960" cy="3840480"/>
          </a:xfrm>
          <a:prstGeom prst="rect">
            <a:avLst/>
          </a:prstGeom>
          <a:solidFill>
            <a:srgbClr val="EFF6FF"/>
          </a:solidFill>
          <a:ln w="12700">
            <a:solidFill>
              <a:srgbClr val="16A34A"/>
            </a:solidFill>
            <a:prstDash val="solid"/>
          </a:ln>
        </p:spPr>
      </p:sp>
      <p:sp>
        <p:nvSpPr>
          <p:cNvPr id="11" name="Text 9"/>
          <p:cNvSpPr/>
          <p:nvPr/>
        </p:nvSpPr>
        <p:spPr>
          <a:xfrm>
            <a:off x="6126480" y="1508760"/>
            <a:ext cx="5394960" cy="548640"/>
          </a:xfrm>
          <a:prstGeom prst="rect">
            <a:avLst/>
          </a:prstGeom>
          <a:solidFill>
            <a:srgbClr val="16A34A"/>
          </a:solid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CLOSE</a:t>
            </a:r>
            <a:endParaRPr lang="en-US" sz="1800" dirty="0"/>
          </a:p>
        </p:txBody>
      </p:sp>
      <p:sp>
        <p:nvSpPr>
          <p:cNvPr id="12" name="Text 10"/>
          <p:cNvSpPr/>
          <p:nvPr/>
        </p:nvSpPr>
        <p:spPr>
          <a:xfrm>
            <a:off x="6309360" y="2148840"/>
            <a:ext cx="5029200" cy="3017520"/>
          </a:xfrm>
          <a:prstGeom prst="rect">
            <a:avLst/>
          </a:prstGeom>
          <a:noFill/>
          <a:ln/>
        </p:spPr>
        <p:txBody>
          <a:bodyPr wrap="square" rtlCol="0" anchor="t"/>
          <a:lstStyle/>
          <a:p>
            <a:pPr indent="0" marL="0">
              <a:buNone/>
            </a:pPr>
            <a:r>
              <a:rPr lang="en-US" sz="1500" dirty="0">
                <a:solidFill>
                  <a:srgbClr val="1F2937"/>
                </a:solidFill>
                <a:latin typeface="Calibri" pitchFamily="34" charset="0"/>
                <a:ea typeface="Calibri" pitchFamily="34" charset="-122"/>
                <a:cs typeface="Calibri" pitchFamily="34" charset="-120"/>
              </a:rPr>
              <a:t>Document is fully processed — no more action needed
</a:t>
            </a:r>
            <a:pPr indent="0" marL="0">
              <a:buNone/>
            </a:pPr>
            <a:r>
              <a:rPr lang="en-US" sz="1500" dirty="0">
                <a:solidFill>
                  <a:srgbClr val="1F2937"/>
                </a:solidFill>
                <a:latin typeface="Calibri" pitchFamily="34" charset="0"/>
                <a:ea typeface="Calibri" pitchFamily="34" charset="-122"/>
                <a:cs typeface="Calibri" pitchFamily="34" charset="-120"/>
              </a:rPr>
              <a:t>Document becomes read-only after closing
</a:t>
            </a:r>
            <a:pPr indent="0" marL="0">
              <a:buNone/>
            </a:pPr>
            <a:r>
              <a:rPr lang="en-US" sz="1500" b="1" dirty="0">
                <a:solidFill>
                  <a:srgbClr val="1B3A5C"/>
                </a:solidFill>
                <a:latin typeface="Calibri" pitchFamily="34" charset="0"/>
                <a:ea typeface="Calibri" pitchFamily="34" charset="-122"/>
                <a:cs typeface="Calibri" pitchFamily="34" charset="-120"/>
              </a:rPr>
              <a:t>Use when: </a:t>
            </a:r>
            <a:pPr indent="0" marL="0">
              <a:buNone/>
            </a:pPr>
            <a:r>
              <a:rPr lang="en-US" sz="1500" dirty="0">
                <a:solidFill>
                  <a:srgbClr val="1F2937"/>
                </a:solidFill>
                <a:latin typeface="Calibri" pitchFamily="34" charset="0"/>
                <a:ea typeface="Calibri" pitchFamily="34" charset="-122"/>
                <a:cs typeface="Calibri" pitchFamily="34" charset="-120"/>
              </a:rPr>
              <a:t>the document has reached its final destination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Working with Bundles</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Grouping Related Documents Together</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Text 6"/>
          <p:cNvSpPr/>
          <p:nvPr/>
        </p:nvSpPr>
        <p:spPr>
          <a:xfrm>
            <a:off x="365760" y="1508760"/>
            <a:ext cx="11155680" cy="2560320"/>
          </a:xfrm>
          <a:prstGeom prst="rect">
            <a:avLst/>
          </a:prstGeom>
          <a:noFill/>
          <a:ln/>
        </p:spPr>
        <p:txBody>
          <a:bodyPr wrap="square" rtlCol="0" anchor="t"/>
          <a:lstStyle/>
          <a:p>
            <a:r>
              <a:rPr lang="en-US" sz="1800" dirty="0">
                <a:solidFill>
                  <a:srgbClr val="1F2937"/>
                </a:solidFill>
                <a:latin typeface="Calibri" pitchFamily="34" charset="0"/>
                <a:ea typeface="Calibri" pitchFamily="34" charset="-122"/>
                <a:cs typeface="Calibri" pitchFamily="34" charset="-120"/>
              </a:rPr>
              <a:t>Use New Bundle when several documents belong to the same transaction</a:t>
            </a:r>
            <a:pPr indent="0" marL="0">
              <a:buNone/>
            </a:pPr>
            <a:r>
              <a:rPr lang="en-US" sz="1800" dirty="0">
                <a:solidFill>
                  <a:srgbClr val="1F2937"/>
                </a:solidFill>
                <a:latin typeface="Calibri" pitchFamily="34" charset="0"/>
                <a:ea typeface="Calibri" pitchFamily="34" charset="-122"/>
                <a:cs typeface="Calibri" pitchFamily="34" charset="-120"/>
              </a:rPr>
              <a:t>Attach individual documents to the bundle</a:t>
            </a:r>
            <a:pPr indent="0" marL="0">
              <a:buNone/>
            </a:pPr>
            <a:r>
              <a:rPr lang="en-US" sz="1800" dirty="0">
                <a:solidFill>
                  <a:srgbClr val="1F2937"/>
                </a:solidFill>
                <a:latin typeface="Calibri" pitchFamily="34" charset="0"/>
                <a:ea typeface="Calibri" pitchFamily="34" charset="-122"/>
                <a:cs typeface="Calibri" pitchFamily="34" charset="-120"/>
              </a:rPr>
              <a:t>The bundle is routed as one unit — all documents move together</a:t>
            </a:r>
            <a:pPr indent="0" marL="0">
              <a:buNone/>
            </a:pPr>
            <a:r>
              <a:rPr lang="en-US" sz="1800" dirty="0">
                <a:solidFill>
                  <a:srgbClr val="1F2937"/>
                </a:solidFill>
                <a:latin typeface="Calibri" pitchFamily="34" charset="0"/>
                <a:ea typeface="Calibri" pitchFamily="34" charset="-122"/>
                <a:cs typeface="Calibri" pitchFamily="34" charset="-120"/>
              </a:rPr>
              <a:t>Example: a Purchase Request with three supporting attachments</a:t>
            </a:r>
            <a:endParaRPr lang="en-US" sz="1800" dirty="0"/>
          </a:p>
        </p:txBody>
      </p:sp>
      <p:sp>
        <p:nvSpPr>
          <p:cNvPr id="9" name="Shape 7"/>
          <p:cNvSpPr/>
          <p:nvPr/>
        </p:nvSpPr>
        <p:spPr>
          <a:xfrm>
            <a:off x="365760" y="4160520"/>
            <a:ext cx="11155680" cy="1463040"/>
          </a:xfrm>
          <a:prstGeom prst="rect">
            <a:avLst/>
          </a:prstGeom>
          <a:solidFill>
            <a:srgbClr val="EFF6FF"/>
          </a:solidFill>
          <a:ln w="12700">
            <a:solidFill>
              <a:srgbClr val="3B82F6"/>
            </a:solidFill>
            <a:prstDash val="solid"/>
          </a:ln>
        </p:spPr>
      </p:sp>
      <p:sp>
        <p:nvSpPr>
          <p:cNvPr id="10" name="Text 8"/>
          <p:cNvSpPr/>
          <p:nvPr/>
        </p:nvSpPr>
        <p:spPr>
          <a:xfrm>
            <a:off x="594360" y="4224528"/>
            <a:ext cx="1005840" cy="365760"/>
          </a:xfrm>
          <a:prstGeom prst="rect">
            <a:avLst/>
          </a:prstGeom>
          <a:noFill/>
          <a:ln/>
        </p:spPr>
        <p:txBody>
          <a:bodyPr wrap="square"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Steps: </a:t>
            </a:r>
            <a:endParaRPr lang="en-US" sz="1400" dirty="0"/>
          </a:p>
        </p:txBody>
      </p:sp>
      <p:sp>
        <p:nvSpPr>
          <p:cNvPr id="11" name="Text 9"/>
          <p:cNvSpPr/>
          <p:nvPr/>
        </p:nvSpPr>
        <p:spPr>
          <a:xfrm>
            <a:off x="594360" y="4617720"/>
            <a:ext cx="10698480" cy="82296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New Bundle → Fill in details → Attach documents → Forward bundle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Transmittal Form and Logbook</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Bridging Digital and Physical Records</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Shape 6"/>
          <p:cNvSpPr/>
          <p:nvPr/>
        </p:nvSpPr>
        <p:spPr>
          <a:xfrm>
            <a:off x="365760" y="1508760"/>
            <a:ext cx="5394960" cy="3840480"/>
          </a:xfrm>
          <a:prstGeom prst="rect">
            <a:avLst/>
          </a:prstGeom>
          <a:solidFill>
            <a:srgbClr val="EFF6FF"/>
          </a:solidFill>
          <a:ln w="12700">
            <a:solidFill>
              <a:srgbClr val="1B3A5C"/>
            </a:solidFill>
            <a:prstDash val="solid"/>
          </a:ln>
        </p:spPr>
      </p:sp>
      <p:sp>
        <p:nvSpPr>
          <p:cNvPr id="9" name="Text 7"/>
          <p:cNvSpPr/>
          <p:nvPr/>
        </p:nvSpPr>
        <p:spPr>
          <a:xfrm>
            <a:off x="365760" y="1508760"/>
            <a:ext cx="5394960" cy="548640"/>
          </a:xfrm>
          <a:prstGeom prst="rect">
            <a:avLst/>
          </a:prstGeom>
          <a:solidFill>
            <a:srgbClr val="1B3A5C"/>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TRANSMITTAL FORM</a:t>
            </a:r>
            <a:endParaRPr lang="en-US" sz="1600" dirty="0"/>
          </a:p>
        </p:txBody>
      </p:sp>
      <p:sp>
        <p:nvSpPr>
          <p:cNvPr id="10" name="Text 8"/>
          <p:cNvSpPr/>
          <p:nvPr/>
        </p:nvSpPr>
        <p:spPr>
          <a:xfrm>
            <a:off x="548640" y="2148840"/>
            <a:ext cx="5029200" cy="3017520"/>
          </a:xfrm>
          <a:prstGeom prst="rect">
            <a:avLst/>
          </a:prstGeom>
          <a:noFill/>
          <a:ln/>
        </p:spPr>
        <p:txBody>
          <a:bodyPr wrap="square" rtlCol="0" anchor="t"/>
          <a:lstStyle/>
          <a:p>
            <a:pPr indent="0" marL="0">
              <a:buNone/>
            </a:pPr>
            <a:r>
              <a:rPr lang="en-US" sz="1400" dirty="0">
                <a:solidFill>
                  <a:srgbClr val="1F2937"/>
                </a:solidFill>
                <a:latin typeface="Calibri" pitchFamily="34" charset="0"/>
                <a:ea typeface="Calibri" pitchFamily="34" charset="-122"/>
                <a:cs typeface="Calibri" pitchFamily="34" charset="-120"/>
              </a:rPr>
              <a:t>Printed paper that accompanies the physical document folder between offices.</a:t>
            </a:r>
            <a:endParaRPr lang="en-US" sz="1400" dirty="0"/>
          </a:p>
          <a:p>
            <a:pPr indent="0" marL="0">
              <a:buNone/>
            </a:pP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Contains: document details + a barcode</a:t>
            </a:r>
            <a:endParaRPr lang="en-US" sz="1400" dirty="0"/>
          </a:p>
          <a:p>
            <a:pPr indent="0" marL="0">
              <a:buNone/>
            </a:pP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How to print:</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Open document → Click Print Transmittal → PDF opens → Print</a:t>
            </a:r>
            <a:endParaRPr lang="en-US" sz="1400" dirty="0"/>
          </a:p>
        </p:txBody>
      </p:sp>
      <p:sp>
        <p:nvSpPr>
          <p:cNvPr id="11" name="Shape 9"/>
          <p:cNvSpPr/>
          <p:nvPr/>
        </p:nvSpPr>
        <p:spPr>
          <a:xfrm>
            <a:off x="6126480" y="1508760"/>
            <a:ext cx="5394960" cy="3840480"/>
          </a:xfrm>
          <a:prstGeom prst="rect">
            <a:avLst/>
          </a:prstGeom>
          <a:solidFill>
            <a:srgbClr val="EFF6FF"/>
          </a:solidFill>
          <a:ln w="12700">
            <a:solidFill>
              <a:srgbClr val="1B3A5C"/>
            </a:solidFill>
            <a:prstDash val="solid"/>
          </a:ln>
        </p:spPr>
      </p:sp>
      <p:sp>
        <p:nvSpPr>
          <p:cNvPr id="12" name="Text 10"/>
          <p:cNvSpPr/>
          <p:nvPr/>
        </p:nvSpPr>
        <p:spPr>
          <a:xfrm>
            <a:off x="6126480" y="1508760"/>
            <a:ext cx="5394960" cy="548640"/>
          </a:xfrm>
          <a:prstGeom prst="rect">
            <a:avLst/>
          </a:prstGeom>
          <a:solidFill>
            <a:srgbClr val="1B3A5C"/>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LOGBOOK</a:t>
            </a:r>
            <a:endParaRPr lang="en-US" sz="1600" dirty="0"/>
          </a:p>
        </p:txBody>
      </p:sp>
      <p:sp>
        <p:nvSpPr>
          <p:cNvPr id="13" name="Text 11"/>
          <p:cNvSpPr/>
          <p:nvPr/>
        </p:nvSpPr>
        <p:spPr>
          <a:xfrm>
            <a:off x="6309360" y="2148840"/>
            <a:ext cx="5029200" cy="3017520"/>
          </a:xfrm>
          <a:prstGeom prst="rect">
            <a:avLst/>
          </a:prstGeom>
          <a:noFill/>
          <a:ln/>
        </p:spPr>
        <p:txBody>
          <a:bodyPr wrap="square" rtlCol="0" anchor="t"/>
          <a:lstStyle/>
          <a:p>
            <a:pPr indent="0" marL="0">
              <a:buNone/>
            </a:pPr>
            <a:r>
              <a:rPr lang="en-US" sz="1400" dirty="0">
                <a:solidFill>
                  <a:srgbClr val="1F2937"/>
                </a:solidFill>
                <a:latin typeface="Calibri" pitchFamily="34" charset="0"/>
                <a:ea typeface="Calibri" pitchFamily="34" charset="-122"/>
                <a:cs typeface="Calibri" pitchFamily="34" charset="-120"/>
              </a:rPr>
              <a:t>Printable record of all document movements for a given period.</a:t>
            </a:r>
            <a:endParaRPr lang="en-US" sz="1400" dirty="0"/>
          </a:p>
          <a:p>
            <a:pPr indent="0" marL="0">
              <a:buNone/>
            </a:pP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Used for compliance reporting and records management</a:t>
            </a:r>
            <a:endParaRPr lang="en-US" sz="1400" dirty="0"/>
          </a:p>
          <a:p>
            <a:pPr indent="0" marL="0">
              <a:buNone/>
            </a:pP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How to generate:</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Inbox menu → Generate Logbook → PDF opens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Available Reports</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Live Data — Always Up to Date</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508760"/>
          <a:ext cx="11155680" cy="914400"/>
        </p:xfrm>
        <a:graphic>
          <a:graphicData uri="http://schemas.openxmlformats.org/drawingml/2006/table">
            <a:tbl>
              <a:tblPr/>
              <a:tblGrid>
                <a:gridCol w="5577840"/>
                <a:gridCol w="557784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Report</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What It Shows</a:t>
                      </a:r>
                      <a:endParaRPr lang="en-US" sz="13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3A5C"/>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 Status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All documents grouped by their current status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Status per Employee</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Who processed what documents and how many</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External Documents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Documents originating from outside the agency</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FF6FF"/>
                    </a:solidFill>
                  </a:tcPr>
                </a:tc>
              </a:tr>
              <a:tr h="41148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Internal Documents</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Documents originating from within the agency</a:t>
                      </a:r>
                      <a:endParaRPr lang="en-US" sz="1200" dirty="0">
                        <a:latin typeface="Calibri" charset="0"/>
                        <a:ea typeface="Calibri" charset="0"/>
                        <a:cs typeface="Calibri" charset="0"/>
                      </a:endParaRPr>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9" name="Text 6"/>
          <p:cNvSpPr/>
          <p:nvPr/>
        </p:nvSpPr>
        <p:spPr>
          <a:xfrm>
            <a:off x="365760" y="4663440"/>
            <a:ext cx="11155680" cy="1097280"/>
          </a:xfrm>
          <a:prstGeom prst="rect">
            <a:avLst/>
          </a:prstGeom>
          <a:noFill/>
          <a:ln/>
        </p:spPr>
        <p:txBody>
          <a:bodyPr wrap="square" rtlCol="0" anchor="t"/>
          <a:lstStyle/>
          <a:p>
            <a:r>
              <a:rPr lang="en-US" sz="1500" dirty="0">
                <a:solidFill>
                  <a:srgbClr val="1F2937"/>
                </a:solidFill>
                <a:latin typeface="Calibri" pitchFamily="34" charset="0"/>
                <a:ea typeface="Calibri" pitchFamily="34" charset="-122"/>
                <a:cs typeface="Calibri" pitchFamily="34" charset="-120"/>
              </a:rPr>
              <a:t>Found under the Reports section in the sidebar</a:t>
            </a:r>
            <a:pPr indent="0" marL="0">
              <a:buNone/>
            </a:pPr>
            <a:r>
              <a:rPr lang="en-US" sz="1500" dirty="0">
                <a:solidFill>
                  <a:srgbClr val="1F2937"/>
                </a:solidFill>
                <a:latin typeface="Calibri" pitchFamily="34" charset="0"/>
                <a:ea typeface="Calibri" pitchFamily="34" charset="-122"/>
                <a:cs typeface="Calibri" pitchFamily="34" charset="-120"/>
              </a:rPr>
              <a:t>All reports can be exported as PDF for printing</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Your Turn — Hands-On Practice</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30–40 minutes</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Shape 6"/>
          <p:cNvSpPr/>
          <p:nvPr/>
        </p:nvSpPr>
        <p:spPr>
          <a:xfrm>
            <a:off x="274320" y="1508760"/>
            <a:ext cx="1828800" cy="530352"/>
          </a:xfrm>
          <a:prstGeom prst="rect">
            <a:avLst/>
          </a:prstGeom>
          <a:solidFill>
            <a:srgbClr val="2563EB"/>
          </a:solidFill>
          <a:ln w="12700">
            <a:solidFill>
              <a:srgbClr val="2563EB"/>
            </a:solidFill>
            <a:prstDash val="solid"/>
          </a:ln>
        </p:spPr>
      </p:sp>
      <p:sp>
        <p:nvSpPr>
          <p:cNvPr id="9" name="Text 7"/>
          <p:cNvSpPr/>
          <p:nvPr/>
        </p:nvSpPr>
        <p:spPr>
          <a:xfrm>
            <a:off x="274320" y="1508760"/>
            <a:ext cx="1828800" cy="53035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Exercise 1</a:t>
            </a:r>
            <a:endParaRPr lang="en-US" sz="1200" dirty="0"/>
          </a:p>
        </p:txBody>
      </p:sp>
      <p:sp>
        <p:nvSpPr>
          <p:cNvPr id="10" name="Text 8"/>
          <p:cNvSpPr/>
          <p:nvPr/>
        </p:nvSpPr>
        <p:spPr>
          <a:xfrm>
            <a:off x="2286000" y="1563624"/>
            <a:ext cx="9235440" cy="45720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Log in and explore your dashboard</a:t>
            </a:r>
            <a:endParaRPr lang="en-US" sz="1600" dirty="0"/>
          </a:p>
        </p:txBody>
      </p:sp>
      <p:sp>
        <p:nvSpPr>
          <p:cNvPr id="11" name="Shape 9"/>
          <p:cNvSpPr/>
          <p:nvPr/>
        </p:nvSpPr>
        <p:spPr>
          <a:xfrm>
            <a:off x="274320" y="2167128"/>
            <a:ext cx="1828800" cy="530352"/>
          </a:xfrm>
          <a:prstGeom prst="rect">
            <a:avLst/>
          </a:prstGeom>
          <a:solidFill>
            <a:srgbClr val="2563EB"/>
          </a:solidFill>
          <a:ln w="12700">
            <a:solidFill>
              <a:srgbClr val="2563EB"/>
            </a:solidFill>
            <a:prstDash val="solid"/>
          </a:ln>
        </p:spPr>
      </p:sp>
      <p:sp>
        <p:nvSpPr>
          <p:cNvPr id="12" name="Text 10"/>
          <p:cNvSpPr/>
          <p:nvPr/>
        </p:nvSpPr>
        <p:spPr>
          <a:xfrm>
            <a:off x="274320" y="2167128"/>
            <a:ext cx="1828800" cy="53035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Exercise 2</a:t>
            </a:r>
            <a:endParaRPr lang="en-US" sz="1200" dirty="0"/>
          </a:p>
        </p:txBody>
      </p:sp>
      <p:sp>
        <p:nvSpPr>
          <p:cNvPr id="13" name="Text 11"/>
          <p:cNvSpPr/>
          <p:nvPr/>
        </p:nvSpPr>
        <p:spPr>
          <a:xfrm>
            <a:off x="2286000" y="2221992"/>
            <a:ext cx="9235440" cy="45720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Create a new internal document (subject of your choice)</a:t>
            </a:r>
            <a:endParaRPr lang="en-US" sz="1600" dirty="0"/>
          </a:p>
        </p:txBody>
      </p:sp>
      <p:sp>
        <p:nvSpPr>
          <p:cNvPr id="14" name="Shape 12"/>
          <p:cNvSpPr/>
          <p:nvPr/>
        </p:nvSpPr>
        <p:spPr>
          <a:xfrm>
            <a:off x="274320" y="2825496"/>
            <a:ext cx="1828800" cy="530352"/>
          </a:xfrm>
          <a:prstGeom prst="rect">
            <a:avLst/>
          </a:prstGeom>
          <a:solidFill>
            <a:srgbClr val="2563EB"/>
          </a:solidFill>
          <a:ln w="12700">
            <a:solidFill>
              <a:srgbClr val="2563EB"/>
            </a:solidFill>
            <a:prstDash val="solid"/>
          </a:ln>
        </p:spPr>
      </p:sp>
      <p:sp>
        <p:nvSpPr>
          <p:cNvPr id="15" name="Text 13"/>
          <p:cNvSpPr/>
          <p:nvPr/>
        </p:nvSpPr>
        <p:spPr>
          <a:xfrm>
            <a:off x="274320" y="2825496"/>
            <a:ext cx="1828800" cy="53035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Exercise 3</a:t>
            </a:r>
            <a:endParaRPr lang="en-US" sz="1200" dirty="0"/>
          </a:p>
        </p:txBody>
      </p:sp>
      <p:sp>
        <p:nvSpPr>
          <p:cNvPr id="16" name="Text 14"/>
          <p:cNvSpPr/>
          <p:nvPr/>
        </p:nvSpPr>
        <p:spPr>
          <a:xfrm>
            <a:off x="2286000" y="2880360"/>
            <a:ext cx="9235440" cy="45720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Forward it to a fellow trainee's office</a:t>
            </a:r>
            <a:endParaRPr lang="en-US" sz="1600" dirty="0"/>
          </a:p>
        </p:txBody>
      </p:sp>
      <p:sp>
        <p:nvSpPr>
          <p:cNvPr id="17" name="Shape 15"/>
          <p:cNvSpPr/>
          <p:nvPr/>
        </p:nvSpPr>
        <p:spPr>
          <a:xfrm>
            <a:off x="274320" y="3483864"/>
            <a:ext cx="1828800" cy="530352"/>
          </a:xfrm>
          <a:prstGeom prst="rect">
            <a:avLst/>
          </a:prstGeom>
          <a:solidFill>
            <a:srgbClr val="2563EB"/>
          </a:solidFill>
          <a:ln w="12700">
            <a:solidFill>
              <a:srgbClr val="2563EB"/>
            </a:solidFill>
            <a:prstDash val="solid"/>
          </a:ln>
        </p:spPr>
      </p:sp>
      <p:sp>
        <p:nvSpPr>
          <p:cNvPr id="18" name="Text 16"/>
          <p:cNvSpPr/>
          <p:nvPr/>
        </p:nvSpPr>
        <p:spPr>
          <a:xfrm>
            <a:off x="274320" y="3483864"/>
            <a:ext cx="1828800" cy="53035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Exercise 4</a:t>
            </a:r>
            <a:endParaRPr lang="en-US" sz="1200" dirty="0"/>
          </a:p>
        </p:txBody>
      </p:sp>
      <p:sp>
        <p:nvSpPr>
          <p:cNvPr id="19" name="Text 17"/>
          <p:cNvSpPr/>
          <p:nvPr/>
        </p:nvSpPr>
        <p:spPr>
          <a:xfrm>
            <a:off x="2286000" y="3538728"/>
            <a:ext cx="9235440" cy="45720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Receive the document sent to you and mark it On Process</a:t>
            </a:r>
            <a:endParaRPr lang="en-US" sz="1600" dirty="0"/>
          </a:p>
        </p:txBody>
      </p:sp>
      <p:sp>
        <p:nvSpPr>
          <p:cNvPr id="20" name="Shape 18"/>
          <p:cNvSpPr/>
          <p:nvPr/>
        </p:nvSpPr>
        <p:spPr>
          <a:xfrm>
            <a:off x="274320" y="4142232"/>
            <a:ext cx="1828800" cy="530352"/>
          </a:xfrm>
          <a:prstGeom prst="rect">
            <a:avLst/>
          </a:prstGeom>
          <a:solidFill>
            <a:srgbClr val="2563EB"/>
          </a:solidFill>
          <a:ln w="12700">
            <a:solidFill>
              <a:srgbClr val="2563EB"/>
            </a:solidFill>
            <a:prstDash val="solid"/>
          </a:ln>
        </p:spPr>
      </p:sp>
      <p:sp>
        <p:nvSpPr>
          <p:cNvPr id="21" name="Text 19"/>
          <p:cNvSpPr/>
          <p:nvPr/>
        </p:nvSpPr>
        <p:spPr>
          <a:xfrm>
            <a:off x="274320" y="4142232"/>
            <a:ext cx="1828800" cy="53035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Exercise 5</a:t>
            </a:r>
            <a:endParaRPr lang="en-US" sz="1200" dirty="0"/>
          </a:p>
        </p:txBody>
      </p:sp>
      <p:sp>
        <p:nvSpPr>
          <p:cNvPr id="22" name="Text 20"/>
          <p:cNvSpPr/>
          <p:nvPr/>
        </p:nvSpPr>
        <p:spPr>
          <a:xfrm>
            <a:off x="2286000" y="4197096"/>
            <a:ext cx="9235440" cy="45720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Close a document</a:t>
            </a:r>
            <a:endParaRPr lang="en-US" sz="1600" dirty="0"/>
          </a:p>
        </p:txBody>
      </p:sp>
      <p:sp>
        <p:nvSpPr>
          <p:cNvPr id="23" name="Shape 21"/>
          <p:cNvSpPr/>
          <p:nvPr/>
        </p:nvSpPr>
        <p:spPr>
          <a:xfrm>
            <a:off x="274320" y="4800600"/>
            <a:ext cx="1828800" cy="530352"/>
          </a:xfrm>
          <a:prstGeom prst="rect">
            <a:avLst/>
          </a:prstGeom>
          <a:solidFill>
            <a:srgbClr val="D97706"/>
          </a:solidFill>
          <a:ln w="12700">
            <a:solidFill>
              <a:srgbClr val="2563EB"/>
            </a:solidFill>
            <a:prstDash val="solid"/>
          </a:ln>
        </p:spPr>
      </p:sp>
      <p:sp>
        <p:nvSpPr>
          <p:cNvPr id="24" name="Text 22"/>
          <p:cNvSpPr/>
          <p:nvPr/>
        </p:nvSpPr>
        <p:spPr>
          <a:xfrm>
            <a:off x="274320" y="4800600"/>
            <a:ext cx="1828800" cy="53035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Exercise 6</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(Advanced)</a:t>
            </a:r>
            <a:endParaRPr lang="en-US" sz="1200" dirty="0"/>
          </a:p>
        </p:txBody>
      </p:sp>
      <p:sp>
        <p:nvSpPr>
          <p:cNvPr id="25" name="Text 23"/>
          <p:cNvSpPr/>
          <p:nvPr/>
        </p:nvSpPr>
        <p:spPr>
          <a:xfrm>
            <a:off x="2286000" y="4855464"/>
            <a:ext cx="9235440" cy="457200"/>
          </a:xfrm>
          <a:prstGeom prst="rect">
            <a:avLst/>
          </a:prstGeom>
          <a:noFill/>
          <a:ln/>
        </p:spPr>
        <p:txBody>
          <a:bodyPr wrap="square" rtlCol="0" anchor="ctr"/>
          <a:lstStyle/>
          <a:p>
            <a:pPr indent="0" marL="0">
              <a:buNone/>
            </a:pPr>
            <a:r>
              <a:rPr lang="en-US" sz="1600" dirty="0">
                <a:solidFill>
                  <a:srgbClr val="1F2937"/>
                </a:solidFill>
                <a:latin typeface="Calibri" pitchFamily="34" charset="0"/>
                <a:ea typeface="Calibri" pitchFamily="34" charset="-122"/>
                <a:cs typeface="Calibri" pitchFamily="34" charset="-120"/>
              </a:rPr>
              <a:t>Create a bundle and attach two documents to it</a:t>
            </a:r>
            <a:endParaRPr lang="en-US" sz="1600" dirty="0"/>
          </a:p>
        </p:txBody>
      </p:sp>
      <p:sp>
        <p:nvSpPr>
          <p:cNvPr id="26" name="Text 24"/>
          <p:cNvSpPr/>
          <p:nvPr/>
        </p:nvSpPr>
        <p:spPr>
          <a:xfrm>
            <a:off x="365760" y="5897880"/>
            <a:ext cx="11155680" cy="32004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Raise your hand if you need help — trainer is available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Quick Check — What Did We Learn?</a:t>
            </a:r>
            <a:endParaRPr lang="en-US" sz="2400" dirty="0"/>
          </a:p>
        </p:txBody>
      </p:sp>
      <p:sp>
        <p:nvSpPr>
          <p:cNvPr id="4" name="Text 2"/>
          <p:cNvSpPr/>
          <p:nvPr/>
        </p:nvSpPr>
        <p:spPr>
          <a:xfrm>
            <a:off x="365760" y="804672"/>
            <a:ext cx="8229600" cy="411480"/>
          </a:xfrm>
          <a:prstGeom prst="rect">
            <a:avLst/>
          </a:prstGeom>
          <a:noFill/>
          <a:ln/>
        </p:spPr>
        <p:txBody>
          <a:bodyPr wrap="square" rtlCol="0" anchor="ctr"/>
          <a:lstStyle/>
          <a:p>
            <a:pPr indent="0" marL="0">
              <a:buNone/>
            </a:pPr>
            <a:r>
              <a:rPr lang="en-US" sz="1300" i="1" dirty="0">
                <a:solidFill>
                  <a:srgbClr val="3B82F6"/>
                </a:solidFill>
                <a:latin typeface="Calibri" pitchFamily="34" charset="0"/>
                <a:ea typeface="Calibri" pitchFamily="34" charset="-122"/>
                <a:cs typeface="Calibri" pitchFamily="34" charset="-120"/>
              </a:rPr>
              <a:t>Review Questions</a:t>
            </a:r>
            <a:endParaRPr lang="en-US" sz="1300" dirty="0"/>
          </a:p>
        </p:txBody>
      </p:sp>
      <p:sp>
        <p:nvSpPr>
          <p:cNvPr id="5" name="Shape 3"/>
          <p:cNvSpPr/>
          <p:nvPr/>
        </p:nvSpPr>
        <p:spPr>
          <a:xfrm>
            <a:off x="0" y="1280160"/>
            <a:ext cx="12192000" cy="54864"/>
          </a:xfrm>
          <a:prstGeom prst="rect">
            <a:avLst/>
          </a:prstGeom>
          <a:solidFill>
            <a:srgbClr val="3B82F6"/>
          </a:solidFill>
          <a:ln/>
        </p:spPr>
      </p:sp>
      <p:sp>
        <p:nvSpPr>
          <p:cNvPr id="6" name="Shape 4"/>
          <p:cNvSpPr/>
          <p:nvPr/>
        </p:nvSpPr>
        <p:spPr>
          <a:xfrm>
            <a:off x="0" y="6309360"/>
            <a:ext cx="12192000" cy="347472"/>
          </a:xfrm>
          <a:prstGeom prst="rect">
            <a:avLst/>
          </a:prstGeom>
          <a:solidFill>
            <a:srgbClr val="1B3A5C"/>
          </a:solidFill>
          <a:ln/>
        </p:spPr>
      </p:sp>
      <p:sp>
        <p:nvSpPr>
          <p:cNvPr id="7" name="Text 5"/>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8" name="Text 6"/>
          <p:cNvSpPr/>
          <p:nvPr/>
        </p:nvSpPr>
        <p:spPr>
          <a:xfrm>
            <a:off x="274320" y="1508760"/>
            <a:ext cx="502920" cy="384048"/>
          </a:xfrm>
          <a:prstGeom prst="rect">
            <a:avLst/>
          </a:prstGeom>
          <a:solidFill>
            <a:srgbClr val="2563EB"/>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Q1</a:t>
            </a:r>
            <a:endParaRPr lang="en-US" sz="1400" dirty="0"/>
          </a:p>
        </p:txBody>
      </p:sp>
      <p:sp>
        <p:nvSpPr>
          <p:cNvPr id="9" name="Text 7"/>
          <p:cNvSpPr/>
          <p:nvPr/>
        </p:nvSpPr>
        <p:spPr>
          <a:xfrm>
            <a:off x="868680" y="1508760"/>
            <a:ext cx="10607040" cy="384048"/>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Where do you go to receive a document sent to your office?</a:t>
            </a:r>
            <a:endParaRPr lang="en-US" sz="1500" dirty="0"/>
          </a:p>
        </p:txBody>
      </p:sp>
      <p:sp>
        <p:nvSpPr>
          <p:cNvPr id="10" name="Text 8"/>
          <p:cNvSpPr/>
          <p:nvPr/>
        </p:nvSpPr>
        <p:spPr>
          <a:xfrm>
            <a:off x="1005840" y="1911096"/>
            <a:ext cx="10515600" cy="347472"/>
          </a:xfrm>
          <a:prstGeom prst="rect">
            <a:avLst/>
          </a:prstGeom>
          <a:noFill/>
          <a:ln/>
        </p:spPr>
        <p:txBody>
          <a:bodyPr wrap="square" rtlCol="0" anchor="ctr"/>
          <a:lstStyle/>
          <a:p>
            <a:pPr indent="0" marL="0">
              <a:buNone/>
            </a:pPr>
            <a:r>
              <a:rPr lang="en-US" sz="1400" dirty="0">
                <a:solidFill>
                  <a:srgbClr val="16A34A"/>
                </a:solidFill>
                <a:latin typeface="Calibri" pitchFamily="34" charset="0"/>
                <a:ea typeface="Calibri" pitchFamily="34" charset="-122"/>
                <a:cs typeface="Calibri" pitchFamily="34" charset="-120"/>
              </a:rPr>
              <a:t>→  Status → Incoming</a:t>
            </a:r>
            <a:endParaRPr lang="en-US" sz="1400" dirty="0"/>
          </a:p>
        </p:txBody>
      </p:sp>
      <p:sp>
        <p:nvSpPr>
          <p:cNvPr id="11" name="Text 9"/>
          <p:cNvSpPr/>
          <p:nvPr/>
        </p:nvSpPr>
        <p:spPr>
          <a:xfrm>
            <a:off x="274320" y="2368296"/>
            <a:ext cx="502920" cy="384048"/>
          </a:xfrm>
          <a:prstGeom prst="rect">
            <a:avLst/>
          </a:prstGeom>
          <a:solidFill>
            <a:srgbClr val="2563EB"/>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Q2</a:t>
            </a:r>
            <a:endParaRPr lang="en-US" sz="1400" dirty="0"/>
          </a:p>
        </p:txBody>
      </p:sp>
      <p:sp>
        <p:nvSpPr>
          <p:cNvPr id="12" name="Text 10"/>
          <p:cNvSpPr/>
          <p:nvPr/>
        </p:nvSpPr>
        <p:spPr>
          <a:xfrm>
            <a:off x="868680" y="2368296"/>
            <a:ext cx="10607040" cy="384048"/>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What does the control number tell you?</a:t>
            </a:r>
            <a:endParaRPr lang="en-US" sz="1500" dirty="0"/>
          </a:p>
        </p:txBody>
      </p:sp>
      <p:sp>
        <p:nvSpPr>
          <p:cNvPr id="13" name="Text 11"/>
          <p:cNvSpPr/>
          <p:nvPr/>
        </p:nvSpPr>
        <p:spPr>
          <a:xfrm>
            <a:off x="1005840" y="2770632"/>
            <a:ext cx="10515600" cy="347472"/>
          </a:xfrm>
          <a:prstGeom prst="rect">
            <a:avLst/>
          </a:prstGeom>
          <a:noFill/>
          <a:ln/>
        </p:spPr>
        <p:txBody>
          <a:bodyPr wrap="square" rtlCol="0" anchor="ctr"/>
          <a:lstStyle/>
          <a:p>
            <a:pPr indent="0" marL="0">
              <a:buNone/>
            </a:pPr>
            <a:r>
              <a:rPr lang="en-US" sz="1400" dirty="0">
                <a:solidFill>
                  <a:srgbClr val="16A34A"/>
                </a:solidFill>
                <a:latin typeface="Calibri" pitchFamily="34" charset="0"/>
                <a:ea typeface="Calibri" pitchFamily="34" charset="-122"/>
                <a:cs typeface="Calibri" pitchFamily="34" charset="-120"/>
              </a:rPr>
              <a:t>→  Unique ID — office, user, and date created</a:t>
            </a:r>
            <a:endParaRPr lang="en-US" sz="1400" dirty="0"/>
          </a:p>
        </p:txBody>
      </p:sp>
      <p:sp>
        <p:nvSpPr>
          <p:cNvPr id="14" name="Text 12"/>
          <p:cNvSpPr/>
          <p:nvPr/>
        </p:nvSpPr>
        <p:spPr>
          <a:xfrm>
            <a:off x="274320" y="3227832"/>
            <a:ext cx="502920" cy="384048"/>
          </a:xfrm>
          <a:prstGeom prst="rect">
            <a:avLst/>
          </a:prstGeom>
          <a:solidFill>
            <a:srgbClr val="2563EB"/>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Q3</a:t>
            </a:r>
            <a:endParaRPr lang="en-US" sz="1400" dirty="0"/>
          </a:p>
        </p:txBody>
      </p:sp>
      <p:sp>
        <p:nvSpPr>
          <p:cNvPr id="15" name="Text 13"/>
          <p:cNvSpPr/>
          <p:nvPr/>
        </p:nvSpPr>
        <p:spPr>
          <a:xfrm>
            <a:off x="868680" y="3227832"/>
            <a:ext cx="10607040" cy="384048"/>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Difference between Forward and Endorse?</a:t>
            </a:r>
            <a:endParaRPr lang="en-US" sz="1500" dirty="0"/>
          </a:p>
        </p:txBody>
      </p:sp>
      <p:sp>
        <p:nvSpPr>
          <p:cNvPr id="16" name="Text 14"/>
          <p:cNvSpPr/>
          <p:nvPr/>
        </p:nvSpPr>
        <p:spPr>
          <a:xfrm>
            <a:off x="1005840" y="3630168"/>
            <a:ext cx="10515600" cy="347472"/>
          </a:xfrm>
          <a:prstGeom prst="rect">
            <a:avLst/>
          </a:prstGeom>
          <a:noFill/>
          <a:ln/>
        </p:spPr>
        <p:txBody>
          <a:bodyPr wrap="square" rtlCol="0" anchor="ctr"/>
          <a:lstStyle/>
          <a:p>
            <a:pPr indent="0" marL="0">
              <a:buNone/>
            </a:pPr>
            <a:r>
              <a:rPr lang="en-US" sz="1400" dirty="0">
                <a:solidFill>
                  <a:srgbClr val="16A34A"/>
                </a:solidFill>
                <a:latin typeface="Calibri" pitchFamily="34" charset="0"/>
                <a:ea typeface="Calibri" pitchFamily="34" charset="-122"/>
                <a:cs typeface="Calibri" pitchFamily="34" charset="-120"/>
              </a:rPr>
              <a:t>→  Forward = send elsewhere;  Endorse = approve/sign off</a:t>
            </a:r>
            <a:endParaRPr lang="en-US" sz="1400" dirty="0"/>
          </a:p>
        </p:txBody>
      </p:sp>
      <p:sp>
        <p:nvSpPr>
          <p:cNvPr id="17" name="Text 15"/>
          <p:cNvSpPr/>
          <p:nvPr/>
        </p:nvSpPr>
        <p:spPr>
          <a:xfrm>
            <a:off x="274320" y="4087368"/>
            <a:ext cx="502920" cy="384048"/>
          </a:xfrm>
          <a:prstGeom prst="rect">
            <a:avLst/>
          </a:prstGeom>
          <a:solidFill>
            <a:srgbClr val="2563EB"/>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Q4</a:t>
            </a:r>
            <a:endParaRPr lang="en-US" sz="1400" dirty="0"/>
          </a:p>
        </p:txBody>
      </p:sp>
      <p:sp>
        <p:nvSpPr>
          <p:cNvPr id="18" name="Text 16"/>
          <p:cNvSpPr/>
          <p:nvPr/>
        </p:nvSpPr>
        <p:spPr>
          <a:xfrm>
            <a:off x="868680" y="4087368"/>
            <a:ext cx="10607040" cy="384048"/>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When do you use a Bundle?</a:t>
            </a:r>
            <a:endParaRPr lang="en-US" sz="1500" dirty="0"/>
          </a:p>
        </p:txBody>
      </p:sp>
      <p:sp>
        <p:nvSpPr>
          <p:cNvPr id="19" name="Text 17"/>
          <p:cNvSpPr/>
          <p:nvPr/>
        </p:nvSpPr>
        <p:spPr>
          <a:xfrm>
            <a:off x="1005840" y="4489704"/>
            <a:ext cx="10515600" cy="347472"/>
          </a:xfrm>
          <a:prstGeom prst="rect">
            <a:avLst/>
          </a:prstGeom>
          <a:noFill/>
          <a:ln/>
        </p:spPr>
        <p:txBody>
          <a:bodyPr wrap="square" rtlCol="0" anchor="ctr"/>
          <a:lstStyle/>
          <a:p>
            <a:pPr indent="0" marL="0">
              <a:buNone/>
            </a:pPr>
            <a:r>
              <a:rPr lang="en-US" sz="1400" dirty="0">
                <a:solidFill>
                  <a:srgbClr val="16A34A"/>
                </a:solidFill>
                <a:latin typeface="Calibri" pitchFamily="34" charset="0"/>
                <a:ea typeface="Calibri" pitchFamily="34" charset="-122"/>
                <a:cs typeface="Calibri" pitchFamily="34" charset="-120"/>
              </a:rPr>
              <a:t>→  When multiple documents belong to the same transaction</a:t>
            </a:r>
            <a:endParaRPr lang="en-US" sz="1400" dirty="0"/>
          </a:p>
        </p:txBody>
      </p:sp>
      <p:sp>
        <p:nvSpPr>
          <p:cNvPr id="20" name="Text 18"/>
          <p:cNvSpPr/>
          <p:nvPr/>
        </p:nvSpPr>
        <p:spPr>
          <a:xfrm>
            <a:off x="274320" y="4946904"/>
            <a:ext cx="502920" cy="384048"/>
          </a:xfrm>
          <a:prstGeom prst="rect">
            <a:avLst/>
          </a:prstGeom>
          <a:solidFill>
            <a:srgbClr val="2563EB"/>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Q5</a:t>
            </a:r>
            <a:endParaRPr lang="en-US" sz="1400" dirty="0"/>
          </a:p>
        </p:txBody>
      </p:sp>
      <p:sp>
        <p:nvSpPr>
          <p:cNvPr id="21" name="Text 19"/>
          <p:cNvSpPr/>
          <p:nvPr/>
        </p:nvSpPr>
        <p:spPr>
          <a:xfrm>
            <a:off x="868680" y="4946904"/>
            <a:ext cx="10607040" cy="384048"/>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Where can you see who last acted on a document?</a:t>
            </a:r>
            <a:endParaRPr lang="en-US" sz="1500" dirty="0"/>
          </a:p>
        </p:txBody>
      </p:sp>
      <p:sp>
        <p:nvSpPr>
          <p:cNvPr id="22" name="Text 20"/>
          <p:cNvSpPr/>
          <p:nvPr/>
        </p:nvSpPr>
        <p:spPr>
          <a:xfrm>
            <a:off x="1005840" y="5349240"/>
            <a:ext cx="10515600" cy="347472"/>
          </a:xfrm>
          <a:prstGeom prst="rect">
            <a:avLst/>
          </a:prstGeom>
          <a:noFill/>
          <a:ln/>
        </p:spPr>
        <p:txBody>
          <a:bodyPr wrap="square" rtlCol="0" anchor="ctr"/>
          <a:lstStyle/>
          <a:p>
            <a:pPr indent="0" marL="0">
              <a:buNone/>
            </a:pPr>
            <a:r>
              <a:rPr lang="en-US" sz="1400" dirty="0">
                <a:solidFill>
                  <a:srgbClr val="16A34A"/>
                </a:solidFill>
                <a:latin typeface="Calibri" pitchFamily="34" charset="0"/>
                <a:ea typeface="Calibri" pitchFamily="34" charset="-122"/>
                <a:cs typeface="Calibri" pitchFamily="34" charset="-120"/>
              </a:rPr>
              <a:t>→  Log / History section at the bottom of the detail page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280160"/>
          </a:xfrm>
          <a:prstGeom prst="rect">
            <a:avLst/>
          </a:prstGeom>
          <a:solidFill>
            <a:srgbClr val="1B3A5C"/>
          </a:solidFill>
          <a:ln/>
        </p:spPr>
      </p:sp>
      <p:sp>
        <p:nvSpPr>
          <p:cNvPr id="3" name="Text 1"/>
          <p:cNvSpPr/>
          <p:nvPr/>
        </p:nvSpPr>
        <p:spPr>
          <a:xfrm>
            <a:off x="365760" y="109728"/>
            <a:ext cx="8229600" cy="7315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You Are Ready — What's Next?</a:t>
            </a:r>
            <a:endParaRPr lang="en-US" sz="2400" dirty="0"/>
          </a:p>
        </p:txBody>
      </p:sp>
      <p:sp>
        <p:nvSpPr>
          <p:cNvPr id="4" name="Shape 2"/>
          <p:cNvSpPr/>
          <p:nvPr/>
        </p:nvSpPr>
        <p:spPr>
          <a:xfrm>
            <a:off x="0" y="1280160"/>
            <a:ext cx="12192000" cy="54864"/>
          </a:xfrm>
          <a:prstGeom prst="rect">
            <a:avLst/>
          </a:prstGeom>
          <a:solidFill>
            <a:srgbClr val="3B82F6"/>
          </a:solidFill>
          <a:ln/>
        </p:spPr>
      </p:sp>
      <p:sp>
        <p:nvSpPr>
          <p:cNvPr id="5" name="Shape 3"/>
          <p:cNvSpPr/>
          <p:nvPr/>
        </p:nvSpPr>
        <p:spPr>
          <a:xfrm>
            <a:off x="0" y="6309360"/>
            <a:ext cx="12192000" cy="347472"/>
          </a:xfrm>
          <a:prstGeom prst="rect">
            <a:avLst/>
          </a:prstGeom>
          <a:solidFill>
            <a:srgbClr val="1B3A5C"/>
          </a:solidFill>
          <a:ln/>
        </p:spPr>
      </p:sp>
      <p:sp>
        <p:nvSpPr>
          <p:cNvPr id="6" name="Text 4"/>
          <p:cNvSpPr/>
          <p:nvPr/>
        </p:nvSpPr>
        <p:spPr>
          <a:xfrm>
            <a:off x="274320" y="6355080"/>
            <a:ext cx="8686800" cy="256032"/>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DTIS End-User Training</a:t>
            </a:r>
            <a:endParaRPr lang="en-US" sz="900" dirty="0"/>
          </a:p>
        </p:txBody>
      </p:sp>
      <p:sp>
        <p:nvSpPr>
          <p:cNvPr id="7" name="Text 5"/>
          <p:cNvSpPr/>
          <p:nvPr/>
        </p:nvSpPr>
        <p:spPr>
          <a:xfrm>
            <a:off x="365760" y="1508760"/>
            <a:ext cx="11155680" cy="411480"/>
          </a:xfrm>
          <a:prstGeom prst="rect">
            <a:avLst/>
          </a:prstGeom>
          <a:noFill/>
          <a:ln/>
        </p:spPr>
        <p:txBody>
          <a:bodyPr wrap="square" rtlCol="0" anchor="ctr"/>
          <a:lstStyle/>
          <a:p>
            <a:pPr indent="0" marL="0">
              <a:buNone/>
            </a:pPr>
            <a:r>
              <a:rPr lang="en-US" sz="1600" b="1" dirty="0">
                <a:solidFill>
                  <a:srgbClr val="1B3A5C"/>
                </a:solidFill>
                <a:latin typeface="Calibri" pitchFamily="34" charset="0"/>
                <a:ea typeface="Calibri" pitchFamily="34" charset="-122"/>
                <a:cs typeface="Calibri" pitchFamily="34" charset="-120"/>
              </a:rPr>
              <a:t>Daily reminders:</a:t>
            </a:r>
            <a:endParaRPr lang="en-US" sz="1600" dirty="0"/>
          </a:p>
        </p:txBody>
      </p:sp>
      <p:sp>
        <p:nvSpPr>
          <p:cNvPr id="8" name="Text 6"/>
          <p:cNvSpPr/>
          <p:nvPr/>
        </p:nvSpPr>
        <p:spPr>
          <a:xfrm>
            <a:off x="365760" y="1920240"/>
            <a:ext cx="11155680" cy="2011680"/>
          </a:xfrm>
          <a:prstGeom prst="rect">
            <a:avLst/>
          </a:prstGeom>
          <a:noFill/>
          <a:ln/>
        </p:spPr>
        <p:txBody>
          <a:bodyPr wrap="square" rtlCol="0" anchor="t"/>
          <a:lstStyle/>
          <a:p>
            <a:r>
              <a:rPr lang="en-US" sz="1600" dirty="0">
                <a:solidFill>
                  <a:srgbClr val="1F2937"/>
                </a:solidFill>
                <a:latin typeface="Calibri" pitchFamily="34" charset="0"/>
                <a:ea typeface="Calibri" pitchFamily="34" charset="-122"/>
                <a:cs typeface="Calibri" pitchFamily="34" charset="-120"/>
              </a:rPr>
              <a:t>Check your Incoming list every morning</a:t>
            </a:r>
            <a:pPr indent="0" marL="0">
              <a:buNone/>
            </a:pPr>
            <a:r>
              <a:rPr lang="en-US" sz="1600" dirty="0">
                <a:solidFill>
                  <a:srgbClr val="1F2937"/>
                </a:solidFill>
                <a:latin typeface="Calibri" pitchFamily="34" charset="0"/>
                <a:ea typeface="Calibri" pitchFamily="34" charset="-122"/>
                <a:cs typeface="Calibri" pitchFamily="34" charset="-120"/>
              </a:rPr>
              <a:t>Always add Remarks when forwarding</a:t>
            </a:r>
            <a:pPr indent="0" marL="0">
              <a:buNone/>
            </a:pPr>
            <a:r>
              <a:rPr lang="en-US" sz="1600" dirty="0">
                <a:solidFill>
                  <a:srgbClr val="1F2937"/>
                </a:solidFill>
                <a:latin typeface="Calibri" pitchFamily="34" charset="0"/>
                <a:ea typeface="Calibri" pitchFamily="34" charset="-122"/>
                <a:cs typeface="Calibri" pitchFamily="34" charset="-120"/>
              </a:rPr>
              <a:t>The control number is your document's ID — keep track of it</a:t>
            </a:r>
            <a:pPr indent="0" marL="0">
              <a:buNone/>
            </a:pPr>
            <a:r>
              <a:rPr lang="en-US" sz="1600" dirty="0">
                <a:solidFill>
                  <a:srgbClr val="1F2937"/>
                </a:solidFill>
                <a:latin typeface="Calibri" pitchFamily="34" charset="0"/>
                <a:ea typeface="Calibri" pitchFamily="34" charset="-122"/>
                <a:cs typeface="Calibri" pitchFamily="34" charset="-120"/>
              </a:rPr>
              <a:t>Every action is logged — be accurate</a:t>
            </a:r>
            <a:endParaRPr lang="en-US" sz="1600" dirty="0"/>
          </a:p>
        </p:txBody>
      </p:sp>
      <p:sp>
        <p:nvSpPr>
          <p:cNvPr id="9" name="Shape 7"/>
          <p:cNvSpPr/>
          <p:nvPr/>
        </p:nvSpPr>
        <p:spPr>
          <a:xfrm>
            <a:off x="365760" y="4023360"/>
            <a:ext cx="11155680" cy="1645920"/>
          </a:xfrm>
          <a:prstGeom prst="rect">
            <a:avLst/>
          </a:prstGeom>
          <a:solidFill>
            <a:srgbClr val="EFF6FF"/>
          </a:solidFill>
          <a:ln w="12700">
            <a:solidFill>
              <a:srgbClr val="3B82F6"/>
            </a:solidFill>
            <a:prstDash val="solid"/>
          </a:ln>
        </p:spPr>
      </p:sp>
      <p:sp>
        <p:nvSpPr>
          <p:cNvPr id="10" name="Text 8"/>
          <p:cNvSpPr/>
          <p:nvPr/>
        </p:nvSpPr>
        <p:spPr>
          <a:xfrm>
            <a:off x="594360" y="4096512"/>
            <a:ext cx="5486400" cy="365760"/>
          </a:xfrm>
          <a:prstGeom prst="rect">
            <a:avLst/>
          </a:prstGeom>
          <a:noFill/>
          <a:ln/>
        </p:spPr>
        <p:txBody>
          <a:bodyPr wrap="square" rtlCol="0" anchor="ctr"/>
          <a:lstStyle/>
          <a:p>
            <a:pPr indent="0" marL="0">
              <a:buNone/>
            </a:pPr>
            <a:r>
              <a:rPr lang="en-US" sz="1500" b="1" dirty="0">
                <a:solidFill>
                  <a:srgbClr val="1B3A5C"/>
                </a:solidFill>
                <a:latin typeface="Calibri" pitchFamily="34" charset="0"/>
                <a:ea typeface="Calibri" pitchFamily="34" charset="-122"/>
                <a:cs typeface="Calibri" pitchFamily="34" charset="-120"/>
              </a:rPr>
              <a:t>Support Contacts</a:t>
            </a:r>
            <a:endParaRPr lang="en-US" sz="1500" dirty="0"/>
          </a:p>
        </p:txBody>
      </p:sp>
      <p:sp>
        <p:nvSpPr>
          <p:cNvPr id="11" name="Text 9"/>
          <p:cNvSpPr/>
          <p:nvPr/>
        </p:nvSpPr>
        <p:spPr>
          <a:xfrm>
            <a:off x="594360" y="4498848"/>
            <a:ext cx="10972800" cy="914400"/>
          </a:xfrm>
          <a:prstGeom prst="rect">
            <a:avLst/>
          </a:prstGeom>
          <a:noFill/>
          <a:ln/>
        </p:spPr>
        <p:txBody>
          <a:bodyPr wrap="square"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Technical issues:    [IT Helpdesk / contact info]</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System questions:  [DTIS Administrator / contact info]</a:t>
            </a:r>
            <a:endParaRPr lang="en-US" sz="1400" dirty="0"/>
          </a:p>
        </p:txBody>
      </p:sp>
      <p:sp>
        <p:nvSpPr>
          <p:cNvPr id="12" name="Text 10"/>
          <p:cNvSpPr/>
          <p:nvPr/>
        </p:nvSpPr>
        <p:spPr>
          <a:xfrm>
            <a:off x="365760" y="5760720"/>
            <a:ext cx="11155680" cy="457200"/>
          </a:xfrm>
          <a:prstGeom prst="rect">
            <a:avLst/>
          </a:prstGeom>
          <a:noFill/>
          <a:ln/>
        </p:spPr>
        <p:txBody>
          <a:bodyPr wrap="square" rtlCol="0" anchor="ctr"/>
          <a:lstStyle/>
          <a:p>
            <a:pPr algn="ctr" indent="0" marL="0">
              <a:buNone/>
            </a:pPr>
            <a:r>
              <a:rPr lang="en-US" sz="2200" b="1" dirty="0">
                <a:solidFill>
                  <a:srgbClr val="1B3A5C"/>
                </a:solidFill>
                <a:latin typeface="Calibri" pitchFamily="34" charset="0"/>
                <a:ea typeface="Calibri" pitchFamily="34" charset="-122"/>
                <a:cs typeface="Calibri"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2026-05-14T05:44:29Z</dcterms:created>
  <dcterms:modified xsi:type="dcterms:W3CDTF">2026-05-14T05:44:29Z</dcterms:modified>
</cp:coreProperties>
</file>